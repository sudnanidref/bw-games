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18CCE"/>
                </a:solidFill>
                <a:latin typeface="DM Sans"/>
              </a:rPr>
              <a:t>BRILIAN WAY · STAGE 4 · GROWTH MINDSET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9600" b="1">
                <a:solidFill>
                  <a:srgbClr val="19352F"/>
                </a:solidFill>
                <a:latin typeface="Barlow Condensed"/>
              </a:rPr>
              <a:t>POLA TUMBUH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9144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50655F"/>
                </a:solidFill>
                <a:latin typeface="DM Sans"/>
              </a:rPr>
              <a:t>Lihat pola, ulangi, salah itu wajar — belajar dan tumbuh dalam 20 detik.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389120"/>
            <a:ext cx="2194560" cy="640080"/>
          </a:xfrm>
          <a:prstGeom prst="round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BF6"/>
                </a:solidFill>
                <a:latin typeface="DM Sans"/>
              </a:rPr>
              <a:t>20 detik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4389120"/>
            <a:ext cx="2194560" cy="640080"/>
          </a:xfrm>
          <a:prstGeom prst="roundRect">
            <a:avLst/>
          </a:prstGeom>
          <a:solidFill>
            <a:srgbClr val="46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BF6"/>
                </a:solidFill>
                <a:latin typeface="DM Sans"/>
              </a:rPr>
              <a:t>Medium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4389120"/>
            <a:ext cx="2194560" cy="640080"/>
          </a:xfrm>
          <a:prstGeom prst="roundRect">
            <a:avLst/>
          </a:prstGeom>
          <a:solidFill>
            <a:srgbClr val="1935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8FBF6"/>
                </a:solidFill>
                <a:latin typeface="DM Sans"/>
              </a:rPr>
              <a:t>HTML + JS murni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Game pitch — untuk persetujuan sebelum implementasi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KONSEP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Kenapa "Pola Tumbuh" mewakili Growth Mindset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474720" cy="3566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3474720" cy="109728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9352F"/>
                </a:solidFill>
                <a:latin typeface="Barlow Condensed"/>
              </a:rPr>
              <a:t>TERUS BELAJAR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0655F"/>
                </a:solidFill>
                <a:latin typeface="DM Sans"/>
              </a:rPr>
              <a:t>Setiap tahap polanya makin panjang. Pemain dipaksa terus meningkatkan kemampuan, bukan mengulang hal yang sama.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20240"/>
            <a:ext cx="3474720" cy="3566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920240"/>
            <a:ext cx="3474720" cy="109728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286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9352F"/>
                </a:solidFill>
                <a:latin typeface="Barlow Condensed"/>
              </a:rPr>
              <a:t>BERADAPTASI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0655F"/>
                </a:solidFill>
                <a:latin typeface="DM Sans"/>
              </a:rPr>
              <a:t>Pola baru diacak setiap tahap. Tidak ada hafalan tetap — pemain harus menyesuaikan diri tiap putaran.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59" y="1920240"/>
            <a:ext cx="3474720" cy="3566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59" y="1920240"/>
            <a:ext cx="3474720" cy="109728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9352F"/>
                </a:solidFill>
                <a:latin typeface="Barlow Condensed"/>
              </a:rPr>
              <a:t>BERTUMBUH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29260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50655F"/>
                </a:solidFill>
                <a:latin typeface="DM Sans"/>
              </a:rPr>
              <a:t>Salah bukan game over. Kesalahan ditandai sebagai "pelajaran", pemain coba lagi, dan tanaman tetap tumbuh.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607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9352F"/>
                </a:solidFill>
                <a:latin typeface="DM Sans"/>
              </a:rPr>
              <a:t>Pesan inti: kemampuan bisa dilatih — kesalahan adalah bagian dari proses tumbuh.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CARA 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Satu loop sederhana: Lihat → Ingat → Ulangi → Tumbuh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011680"/>
            <a:ext cx="822960" cy="822960"/>
          </a:xfrm>
          <a:prstGeom prst="ellipse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Barlow Condense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9352F"/>
                </a:solidFill>
                <a:latin typeface="Barlow Condensed"/>
              </a:rPr>
              <a:t>LIHAT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560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Pola panah (← ↑ → ↓) menyala satu per satu, ±0,35 detik per panah.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737360" y="2240280"/>
            <a:ext cx="1463040" cy="365760"/>
          </a:xfrm>
          <a:prstGeom prst="rightArrow">
            <a:avLst/>
          </a:prstGeom>
          <a:solidFill>
            <a:srgbClr val="A9B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74720" y="2011680"/>
            <a:ext cx="822960" cy="822960"/>
          </a:xfrm>
          <a:prstGeom prst="ellipse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Barlow Condense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9352F"/>
                </a:solidFill>
                <a:latin typeface="Barlow Condensed"/>
              </a:rPr>
              <a:t>INGAT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657600"/>
            <a:ext cx="2560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Pola disembunyikan. Pemain harus mengingat urutannya.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572000" y="2240280"/>
            <a:ext cx="1463040" cy="365760"/>
          </a:xfrm>
          <a:prstGeom prst="rightArrow">
            <a:avLst/>
          </a:prstGeom>
          <a:solidFill>
            <a:srgbClr val="A9B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309360" y="2011680"/>
            <a:ext cx="822960" cy="822960"/>
          </a:xfrm>
          <a:prstGeom prst="ellipse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Barlow Condense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9352F"/>
                </a:solidFill>
                <a:latin typeface="Barlow Condensed"/>
              </a:rPr>
              <a:t>ULANGI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657600"/>
            <a:ext cx="2560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Masukkan urutan dengan tombol panah / WASD atau klik 4 tombol di layar.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406640" y="2240280"/>
            <a:ext cx="1463040" cy="365760"/>
          </a:xfrm>
          <a:prstGeom prst="rightArrow">
            <a:avLst/>
          </a:prstGeom>
          <a:solidFill>
            <a:srgbClr val="A9BD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2011680"/>
            <a:ext cx="822960" cy="822960"/>
          </a:xfrm>
          <a:prstGeom prst="ellipse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Barlow Condense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017520"/>
            <a:ext cx="25603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9352F"/>
                </a:solidFill>
                <a:latin typeface="Barlow Condensed"/>
              </a:rPr>
              <a:t>TUMBUH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657600"/>
            <a:ext cx="2560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Benar → tanaman naik 1 tahap dan pola berikutnya lebih panjang.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9352F"/>
                </a:solidFill>
                <a:latin typeface="DM Sans"/>
              </a:rPr>
              <a:t>Game selesai saat 5 tahap tuntas ATAU waktu 20 detik habis → skor dikirim ke shell.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MOCKUP LAYAR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Area permainan (di dalam HUD shell)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7498079" cy="466344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6949440" cy="228600"/>
          </a:xfrm>
          <a:prstGeom prst="rect">
            <a:avLst/>
          </a:prstGeom>
          <a:solidFill>
            <a:srgbClr val="E8F0EB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965960"/>
            <a:ext cx="4206240" cy="22860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9352F"/>
                </a:solidFill>
                <a:latin typeface="DM Sans"/>
              </a:rPr>
              <a:t>WAKTU  12,4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22402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19352F"/>
                </a:solidFill>
                <a:latin typeface="DM Sans"/>
              </a:rPr>
              <a:t>TAHAP 3 / 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5394960"/>
            <a:ext cx="2194560" cy="457200"/>
          </a:xfrm>
          <a:prstGeom prst="rect">
            <a:avLst/>
          </a:prstGeom>
          <a:solidFill>
            <a:srgbClr val="506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2848" y="3749039"/>
            <a:ext cx="146304" cy="1645920"/>
          </a:xfrm>
          <a:prstGeom prst="rect">
            <a:avLst/>
          </a:prstGeom>
          <a:solidFill>
            <a:srgbClr val="46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737360" y="4114800"/>
            <a:ext cx="548640" cy="320040"/>
          </a:xfrm>
          <a:prstGeom prst="ellipse">
            <a:avLst/>
          </a:prstGeom>
          <a:solidFill>
            <a:srgbClr val="46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88920" y="3749039"/>
            <a:ext cx="548640" cy="320040"/>
          </a:xfrm>
          <a:prstGeom prst="ellipse">
            <a:avLst/>
          </a:prstGeom>
          <a:solidFill>
            <a:srgbClr val="46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37360" y="3383280"/>
            <a:ext cx="548640" cy="320040"/>
          </a:xfrm>
          <a:prstGeom prst="ellipse">
            <a:avLst/>
          </a:prstGeom>
          <a:solidFill>
            <a:srgbClr val="46B8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897880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0655F"/>
                </a:solidFill>
                <a:latin typeface="DM Sans"/>
              </a:rPr>
              <a:t>Tanaman tahap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2834640"/>
            <a:ext cx="822960" cy="822960"/>
          </a:xfrm>
          <a:prstGeom prst="roundRect">
            <a:avLst/>
          </a:prstGeom>
          <a:solidFill>
            <a:srgbClr val="46B8A4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DM Sans"/>
              </a:rPr>
              <a:t>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92040" y="2834640"/>
            <a:ext cx="822960" cy="822960"/>
          </a:xfrm>
          <a:prstGeom prst="roundRect">
            <a:avLst/>
          </a:prstGeom>
          <a:solidFill>
            <a:srgbClr val="46B8A4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DM Sans"/>
              </a:rPr>
              <a:t>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52160" y="2834640"/>
            <a:ext cx="822960" cy="822960"/>
          </a:xfrm>
          <a:prstGeom prst="roundRect">
            <a:avLst/>
          </a:prstGeom>
          <a:solidFill>
            <a:srgbClr val="EF786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F8FBF6"/>
                </a:solidFill>
                <a:latin typeface="DM Sans"/>
              </a:rPr>
              <a:t>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12280" y="2834640"/>
            <a:ext cx="822960" cy="82296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19352F"/>
                </a:solidFill>
                <a:latin typeface="DM San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49039"/>
            <a:ext cx="3931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F7866"/>
                </a:solidFill>
                <a:latin typeface="DM Sans"/>
              </a:rPr>
              <a:t>Pelajaran: panah ke-3 seharusnya ↓. Coba lagi!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23360" y="4937760"/>
            <a:ext cx="822960" cy="82296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19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9352F"/>
                </a:solidFill>
                <a:latin typeface="DM Sans"/>
              </a:rPr>
              <a:t>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937760"/>
            <a:ext cx="822960" cy="82296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19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9352F"/>
                </a:solidFill>
                <a:latin typeface="DM Sans"/>
              </a:rPr>
              <a:t>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4937760"/>
            <a:ext cx="822960" cy="82296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19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9352F"/>
                </a:solidFill>
                <a:latin typeface="DM San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4937760"/>
            <a:ext cx="822960" cy="822960"/>
          </a:xfrm>
          <a:prstGeom prst="roundRect">
            <a:avLst/>
          </a:prstGeom>
          <a:solidFill>
            <a:srgbClr val="F8FBF6"/>
          </a:solidFill>
          <a:ln w="19050">
            <a:solidFill>
              <a:srgbClr val="1935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19352F"/>
                </a:solidFill>
                <a:latin typeface="DM Sans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85216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0655F"/>
                </a:solidFill>
                <a:latin typeface="DM Sans"/>
              </a:rPr>
              <a:t>Tombol layar = tombol keyboard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1828800"/>
            <a:ext cx="34747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Hijau = input benar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Merah + label = input salah (tidak hanya warna)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Bar waktu 20 detik di atas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Tanaman tumbuh per tahap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Semua aset digambar sendiri (SVG/CSS), aksen --growth-mindset #818cce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TINGKAT KESULITAN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Medium: 5 tahap dalam 20 detik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566928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8FBF6"/>
                          </a:solidFill>
                          <a:latin typeface="DM Sans"/>
                        </a:rPr>
                        <a:t>Tahap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8FBF6"/>
                          </a:solidFill>
                          <a:latin typeface="DM Sans"/>
                        </a:rPr>
                        <a:t>Panjang pola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8FBF6"/>
                          </a:solidFill>
                          <a:latin typeface="DM Sans"/>
                        </a:rPr>
                        <a:t>Poin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1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3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2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4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18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3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4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20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4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5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22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5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6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9352F"/>
                          </a:solidFill>
                          <a:latin typeface="DM Sans"/>
                        </a:rPr>
                        <a:t>25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577840"/>
            <a:ext cx="5669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9352F"/>
                </a:solidFill>
                <a:latin typeface="DM Sans"/>
              </a:rPr>
              <a:t>Total 22 panah · maksimal 100 poin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828800"/>
            <a:ext cx="502920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Kalkulasi: 22 panah × 0,35 d tampil ≈ 7,7 d, sisa ±12 d untuk input (~0,5 d per panah).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Pemain rapi &amp; fokus bisa menuntaskan 5 tahap, tapi pas-pasan → skor penuh butuh usaha.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Rata-rata pemain diperkirakan mencapai tahap 3–4 (≈ 50–75 poin).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Salah = pola diputar ulang + petunjuk; hanya membuang waktu, tidak mengurangi poin.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RUBRIK SKOR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Skor integer 0–100, murni dari permainan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9352F"/>
                </a:solidFill>
                <a:latin typeface="DM Sans"/>
              </a:rPr>
              <a:t>skor = Σ poin tahap selesai + floor(poin tahap berjalan × input benar / panjang pola)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19352F"/>
                </a:solidFill>
                <a:latin typeface="DM Sans"/>
              </a:rPr>
              <a:t>lalu di-clamp ke 0–100 dan dibulatkan ke integer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291840"/>
          <a:ext cx="108813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47548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Skenario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Perhitungan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Skor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Semua 5 tahap tuntas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15+18+20+22+25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100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Tahap 1–3 tuntas, tahap 4: 2/5 benar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53 + floor(22×2/5)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61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Tahap 1 saja, waktu habis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15 + 0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15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Tidak ada input benar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0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852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Tidak ada skor placeholder. Esc / keluar = onCancel() tanpa poin.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KONTROL &amp; AKSESIBILITAS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Keyboard dan pointer punya aksi yang sama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2133600"/>
                <a:gridCol w="2133600"/>
              </a:tblGrid>
              <a:tr h="59436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Aksi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Keyboard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8FBF6"/>
                          </a:solidFill>
                          <a:latin typeface="DM Sans"/>
                        </a:rPr>
                        <a:t>Pointer</a:t>
                      </a:r>
                    </a:p>
                  </a:txBody>
                  <a:tcPr>
                    <a:solidFill>
                      <a:srgbClr val="818CC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Mulai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Enter / Space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Klik "Mulai"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Input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← ↑ → ↓ atau W A S D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Klik 4 tombol panah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Keluar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Esc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9352F"/>
                          </a:solidFill>
                          <a:latin typeface="DM Sans"/>
                        </a:rPr>
                        <a:t>Klik "Keluar"</a:t>
                      </a:r>
                    </a:p>
                  </a:txBody>
                  <a:tcPr>
                    <a:solidFill>
                      <a:srgbClr val="F8FBF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06640" y="1828800"/>
            <a:ext cx="44805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Focus ring terlihat di semua tombol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Status benar/salah pakai ikon + teks, tidak hanya warna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prefers-reduced-motion: animasi tumbuh diganti perubahan instan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Tanpa audio (tidak perlu kontrol mute)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9352F"/>
                </a:solidFill>
                <a:latin typeface="DM Sans"/>
              </a:rPr>
              <a:t>•  Legible di 1280×720 &amp; 1440×900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572000"/>
            <a:ext cx="6400800" cy="146304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663440"/>
            <a:ext cx="6035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Briefing sebelum main: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"Ingat pola panah, ulangi urutannya. Salah? Pelajari dan coba lagi — tuntaskan 5 tahap dalam 20 detik."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KEPATUHAN ATURAN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Sesuai docs, spec, dan checklist slot Growth Mindset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OpenSpec dulu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Buat change growth-mindset-mini-game: proposal, design, spec, tasks sebelum coding.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82880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82880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Batas folder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37744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Hanya src/games/growth-mindset/ + 1 entri slot di src/games/index.ts.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4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9184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832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Kontrak 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Export PlayableGame; onComplete({ valueId, score }) sekali, onCancel/onError tanpa poin.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29184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29184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3832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Design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4048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Variabel CSS shell, Barlow Condensed + DM Sans, spasi 4/8/12/16/24/32px.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846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3035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Semua original (SVG/CSS). Manifest aset di README. Tanpa aset Vantis / logo BRI.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754880"/>
            <a:ext cx="5303520" cy="128016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754880"/>
            <a:ext cx="109728" cy="1280160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4846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9352F"/>
                </a:solidFill>
                <a:latin typeface="Barlow Condensed"/>
              </a:rPr>
              <a:t>Verifikasi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5303520"/>
            <a:ext cx="48463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Test batas skor + gameplay, lalu npm run typecheck, npm test, npm run build.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PENDEKATAN TEKNIS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HTML + JS murni, dibungkus kontrak React shell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5120640" cy="411480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4663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818CCE"/>
                </a:solidFill>
                <a:latin typeface="Barlow Condensed"/>
              </a:rPr>
              <a:t>ENGINE (murni)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466344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engine.ts — logika &amp; DOM API native (createElement, addEventListener, requestAnimationFrame)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Tanpa React, tanpa library, tanpa canvas lib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Fungsi skor murni → mudah dites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mount(el, callbacks) / destroy()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828800"/>
            <a:ext cx="5212080" cy="411480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818CCE"/>
                </a:solidFill>
                <a:latin typeface="Barlow Condensed"/>
              </a:rPr>
              <a:t>ADAPTER (tipis)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GrowthMindsetGame.tsx ± 20 baris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Hanya memberi &lt;div ref&gt; ke engine dan meneruskan onComplete / onCancel / onError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Wajib karena shell hanya menerima komponen PlayableGame (React)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9352F"/>
                </a:solidFill>
                <a:latin typeface="DM Sans"/>
              </a:rPr>
              <a:t>•  Cleanup listener &amp; timer saat unmount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0655F"/>
                </a:solidFill>
                <a:latin typeface="DM Sans"/>
              </a:rPr>
              <a:t>Catatan: file engine ditulis .ts (tanpa framework) agar lolos npm run typecheck — atau .js murni bila Anda lebih suka.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0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818C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818CCE"/>
                </a:solidFill>
                <a:latin typeface="DM Sans"/>
              </a:rPr>
              <a:t>KEPUTUSAN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9352F"/>
                </a:solidFill>
                <a:latin typeface="Barlow Condensed"/>
              </a:rPr>
              <a:t>Setelah disetujui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1. Buat OpenSpec change growth-mindset-mini-game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2. Implementasi engine + adapter di src/games/growth-mindset/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3. Test: batas skor 0/100, partial, gameplay selesai, cancel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4. Update README slot (kontrol, rubrik, manifest aset)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5. Daftarkan slot di src/games/index.ts (available: true + briefing)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9352F"/>
                </a:solidFill>
                <a:latin typeface="DM Sans"/>
              </a:rPr>
              <a:t>•  6. Jalankan typecheck, test, build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5120" y="1828800"/>
            <a:ext cx="4846320" cy="4206240"/>
          </a:xfrm>
          <a:prstGeom prst="rect">
            <a:avLst/>
          </a:prstGeom>
          <a:solidFill>
            <a:srgbClr val="F8FBF6"/>
          </a:solidFill>
          <a:ln w="19050">
            <a:solidFill>
              <a:srgbClr val="A9BD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965960"/>
            <a:ext cx="4389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818CCE"/>
                </a:solidFill>
                <a:latin typeface="Barlow Condensed"/>
              </a:rPr>
              <a:t>IDE ALTERNATIF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3891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B. "Coba Lagi" — lompat timing: rintangan makin cepat; setiap jatuh, jalur rintangan ditandai sebagai petunjuk di percobaan berikut.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50655F"/>
                </a:solidFill>
                <a:latin typeface="DM Sans"/>
              </a:rPr>
              <a:t>C. "Upgrade Skill" — sortir kalimat fixed vs growth mindset ("Saya tidak bisa" vs "Saya belum bisa") secepat mungkin dalam 20 detik.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
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jpg"/><Relationship Id="rId4" Type="http://schemas.openxmlformats.org/officeDocument/2006/relationships/image" Target="../media/image-1-4.jpg"/><Relationship Id="rId5" Type="http://schemas.openxmlformats.org/officeDocument/2006/relationships/image" Target="../media/image-1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image" Target="../media/image-2-3.jpg"/><Relationship Id="rId4" Type="http://schemas.openxmlformats.org/officeDocument/2006/relationships/image" Target="../media/image-2-4.jpg"/><Relationship Id="rId5" Type="http://schemas.openxmlformats.org/officeDocument/2006/relationships/image" Target="../media/image-2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image" Target="../media/image-4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image" Target="../media/image-13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●  </a:t>
            </a:r>
            <a:pPr indent="0" marL="0">
              <a:buNone/>
            </a:pPr>
            <a:r>
              <a:rPr lang="en-US" sz="1100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BRILiaN Way Arcade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848295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Sharing session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77095" y="6355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A6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0" y="91440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B8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Spec-driven development  ·  GitHub Copilot  ·  OpenSpec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280160"/>
            <a:ext cx="114601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800" spc="-80" kern="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values, </a:t>
            </a:r>
            <a:pPr algn="ctr" indent="0" marL="0">
              <a:lnSpc>
                <a:spcPct val="105000"/>
              </a:lnSpc>
              <a:buNone/>
            </a:pPr>
            <a:r>
              <a:rPr lang="en-US" sz="5800" i="1" spc="-80" kern="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spec</a:t>
            </a:r>
            <a:pPr algn="ctr" indent="0" marL="0">
              <a:lnSpc>
                <a:spcPct val="105000"/>
              </a:lnSpc>
              <a:buNone/>
            </a:pPr>
            <a:r>
              <a:rPr lang="en-US" sz="5800" spc="-80" kern="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at a time.</a:t>
            </a:r>
            <a:endParaRPr lang="en-US" sz="5800" dirty="0"/>
          </a:p>
        </p:txBody>
      </p:sp>
      <p:sp>
        <p:nvSpPr>
          <p:cNvPr id="7" name="Shape 5"/>
          <p:cNvSpPr/>
          <p:nvPr/>
        </p:nvSpPr>
        <p:spPr>
          <a:xfrm>
            <a:off x="4221328" y="2514600"/>
            <a:ext cx="1828800" cy="438912"/>
          </a:xfrm>
          <a:prstGeom prst="roundRect">
            <a:avLst>
              <a:gd name="adj" fmla="val 50000"/>
            </a:avLst>
          </a:prstGeom>
          <a:solidFill>
            <a:srgbClr val="17191C"/>
          </a:solidFill>
          <a:ln w="12700">
            <a:solidFill>
              <a:srgbClr val="1719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1328" y="251460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Play the journey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41568" y="2514600"/>
            <a:ext cx="182880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7191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41568" y="251460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 the specs</a:t>
            </a:r>
            <a:endParaRPr lang="en-US" sz="1300" dirty="0"/>
          </a:p>
        </p:txBody>
      </p:sp>
      <p:pic>
        <p:nvPicPr>
          <p:cNvPr id="11" name="Image 0" descr="/private/tmp/bw-deck/img/confused-happ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46120" y="2194560"/>
            <a:ext cx="896752" cy="960120"/>
          </a:xfrm>
          <a:prstGeom prst="rect">
            <a:avLst/>
          </a:prstGeom>
        </p:spPr>
      </p:pic>
      <p:pic>
        <p:nvPicPr>
          <p:cNvPr id="12" name="Image 1" descr="/private/tmp/bw-deck/img/worried-happ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2194560"/>
            <a:ext cx="896752" cy="96012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800" y="3794760"/>
            <a:ext cx="3383280" cy="192024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ECECEC"/>
            </a:solidFill>
            <a:prstDash val="solid"/>
          </a:ln>
          <a:effectLst>
            <a:outerShdw sx="100000" sy="100000" kx="0" ky="0" algn="bl" rotWithShape="0" blurRad="228600" dist="101600" dir="5400000">
              <a:srgbClr val="000000">
                <a:alpha val="10000"/>
              </a:srgbClr>
            </a:outerShdw>
          </a:effectLst>
        </p:spPr>
      </p:sp>
      <p:pic>
        <p:nvPicPr>
          <p:cNvPr id="14" name="Image 2" descr="/private/tmp/bw-deck/img/customer-focus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77240" y="3886200"/>
            <a:ext cx="3200400" cy="173736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4160520" y="3291840"/>
            <a:ext cx="3886200" cy="251460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CECEC"/>
            </a:solidFill>
            <a:prstDash val="solid"/>
          </a:ln>
          <a:effectLst>
            <a:outerShdw sx="100000" sy="100000" kx="0" ky="0" algn="bl" rotWithShape="0" blurRad="228600" dist="101600" dir="5400000">
              <a:srgbClr val="000000">
                <a:alpha val="10000"/>
              </a:srgbClr>
            </a:outerShdw>
          </a:effectLst>
        </p:spPr>
      </p:sp>
      <p:pic>
        <p:nvPicPr>
          <p:cNvPr id="16" name="Image 3" descr="/private/tmp/bw-deck/img/home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251960" y="3383280"/>
            <a:ext cx="3703320" cy="23317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38160" y="3794760"/>
            <a:ext cx="3383280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CECEC"/>
            </a:solidFill>
            <a:prstDash val="solid"/>
          </a:ln>
          <a:effectLst>
            <a:outerShdw sx="100000" sy="100000" kx="0" ky="0" algn="bl" rotWithShape="0" blurRad="228600" dist="101600" dir="5400000">
              <a:srgbClr val="000000">
                <a:alpha val="10000"/>
              </a:srgbClr>
            </a:outerShdw>
          </a:effectLst>
        </p:spPr>
      </p:sp>
      <p:pic>
        <p:nvPicPr>
          <p:cNvPr id="18" name="Image 4" descr="/private/tmp/bw-deck/img/collab-msg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229600" y="3886200"/>
            <a:ext cx="320040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●  </a:t>
            </a:r>
            <a:pPr indent="0" marL="0">
              <a:buNone/>
            </a:pPr>
            <a:r>
              <a:rPr lang="en-US" sz="1100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BRILiaN Way Arcade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848295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Agenda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77095" y="6355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A6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91440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400" spc="-80" kern="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will </a:t>
            </a:r>
            <a:pPr algn="l" indent="0" marL="0">
              <a:lnSpc>
                <a:spcPct val="105000"/>
              </a:lnSpc>
              <a:buNone/>
            </a:pPr>
            <a:r>
              <a:rPr lang="en-US" sz="4400" i="1" spc="-80" kern="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walk through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685800" y="2194560"/>
            <a:ext cx="2017715" cy="3749040"/>
          </a:xfrm>
          <a:prstGeom prst="roundRect">
            <a:avLst>
              <a:gd name="adj" fmla="val 11330"/>
            </a:avLst>
          </a:prstGeom>
          <a:solidFill>
            <a:srgbClr val="F2F2F3"/>
          </a:solidFill>
          <a:ln w="12700">
            <a:solidFill>
              <a:srgbClr val="F2F2F3"/>
            </a:solidFill>
            <a:prstDash val="solid"/>
          </a:ln>
        </p:spPr>
      </p:sp>
      <p:pic>
        <p:nvPicPr>
          <p:cNvPr id="7" name="Image 0" descr="/private/tmp/bw-deck/img/hom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2331720"/>
            <a:ext cx="1743395" cy="23774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892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914400" y="5166360"/>
            <a:ext cx="15605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Ideation</a:t>
            </a:r>
            <a:endParaRPr lang="en-US" sz="2600" dirty="0"/>
          </a:p>
        </p:txBody>
      </p:sp>
      <p:sp>
        <p:nvSpPr>
          <p:cNvPr id="10" name="Shape 7"/>
          <p:cNvSpPr/>
          <p:nvPr/>
        </p:nvSpPr>
        <p:spPr>
          <a:xfrm>
            <a:off x="2886395" y="2194560"/>
            <a:ext cx="2017715" cy="3749040"/>
          </a:xfrm>
          <a:prstGeom prst="roundRect">
            <a:avLst>
              <a:gd name="adj" fmla="val 11330"/>
            </a:avLst>
          </a:prstGeom>
          <a:solidFill>
            <a:srgbClr val="F2F2F3"/>
          </a:solidFill>
          <a:ln w="12700">
            <a:solidFill>
              <a:srgbClr val="F2F2F3"/>
            </a:solidFill>
            <a:prstDash val="solid"/>
          </a:ln>
        </p:spPr>
      </p:sp>
      <p:pic>
        <p:nvPicPr>
          <p:cNvPr id="11" name="Image 1" descr="/private/tmp/bw-deck/img/doc-proposal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023555" y="2331720"/>
            <a:ext cx="1743395" cy="23774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114995" y="4892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3114995" y="5166360"/>
            <a:ext cx="15605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Process</a:t>
            </a:r>
            <a:endParaRPr lang="en-US" sz="2600" dirty="0"/>
          </a:p>
        </p:txBody>
      </p:sp>
      <p:sp>
        <p:nvSpPr>
          <p:cNvPr id="14" name="Shape 10"/>
          <p:cNvSpPr/>
          <p:nvPr/>
        </p:nvSpPr>
        <p:spPr>
          <a:xfrm>
            <a:off x="5086990" y="2194560"/>
            <a:ext cx="2017715" cy="3749040"/>
          </a:xfrm>
          <a:prstGeom prst="roundRect">
            <a:avLst>
              <a:gd name="adj" fmla="val 11330"/>
            </a:avLst>
          </a:prstGeom>
          <a:solidFill>
            <a:srgbClr val="F2F2F3"/>
          </a:solidFill>
          <a:ln w="12700">
            <a:solidFill>
              <a:srgbClr val="F2F2F3"/>
            </a:solidFill>
            <a:prstDash val="solid"/>
          </a:ln>
        </p:spPr>
      </p:sp>
      <p:pic>
        <p:nvPicPr>
          <p:cNvPr id="15" name="Image 2" descr="/private/tmp/bw-deck/img/cf-attack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224150" y="2331720"/>
            <a:ext cx="1743395" cy="23774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315590" y="4892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2"/>
          <p:cNvSpPr/>
          <p:nvPr/>
        </p:nvSpPr>
        <p:spPr>
          <a:xfrm>
            <a:off x="5315590" y="5166360"/>
            <a:ext cx="15605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Struggle</a:t>
            </a:r>
            <a:endParaRPr lang="en-US" sz="2600" dirty="0"/>
          </a:p>
        </p:txBody>
      </p:sp>
      <p:sp>
        <p:nvSpPr>
          <p:cNvPr id="18" name="Shape 13"/>
          <p:cNvSpPr/>
          <p:nvPr/>
        </p:nvSpPr>
        <p:spPr>
          <a:xfrm>
            <a:off x="7287585" y="2194560"/>
            <a:ext cx="2017715" cy="3749040"/>
          </a:xfrm>
          <a:prstGeom prst="roundRect">
            <a:avLst>
              <a:gd name="adj" fmla="val 11330"/>
            </a:avLst>
          </a:prstGeom>
          <a:solidFill>
            <a:srgbClr val="F2F2F3"/>
          </a:solidFill>
          <a:ln w="12700">
            <a:solidFill>
              <a:srgbClr val="F2F2F3"/>
            </a:solidFill>
            <a:prstDash val="solid"/>
          </a:ln>
        </p:spPr>
      </p:sp>
      <p:pic>
        <p:nvPicPr>
          <p:cNvPr id="19" name="Image 3" descr="/private/tmp/bw-deck/img/collab-msg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424745" y="2331720"/>
            <a:ext cx="1743395" cy="237744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516185" y="4892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7516185" y="5166360"/>
            <a:ext cx="15605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</a:t>
            </a:r>
            <a:endParaRPr lang="en-US" sz="2600" dirty="0"/>
          </a:p>
        </p:txBody>
      </p:sp>
      <p:sp>
        <p:nvSpPr>
          <p:cNvPr id="22" name="Shape 16"/>
          <p:cNvSpPr/>
          <p:nvPr/>
        </p:nvSpPr>
        <p:spPr>
          <a:xfrm>
            <a:off x="9488180" y="2194560"/>
            <a:ext cx="2017715" cy="3749040"/>
          </a:xfrm>
          <a:prstGeom prst="roundRect">
            <a:avLst>
              <a:gd name="adj" fmla="val 11330"/>
            </a:avLst>
          </a:prstGeom>
          <a:solidFill>
            <a:srgbClr val="F2F2F3"/>
          </a:solidFill>
          <a:ln w="12700">
            <a:solidFill>
              <a:srgbClr val="F2F2F3"/>
            </a:solidFill>
            <a:prstDash val="solid"/>
          </a:ln>
        </p:spPr>
      </p:sp>
      <p:pic>
        <p:nvPicPr>
          <p:cNvPr id="23" name="Image 4" descr="/private/tmp/bw-deck/img/acc-end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625340" y="2331720"/>
            <a:ext cx="1743395" cy="237744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716780" y="4892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9716780" y="5166360"/>
            <a:ext cx="15605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Lessons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●  </a:t>
            </a:r>
            <a:pPr indent="0" marL="0">
              <a:buNone/>
            </a:pPr>
            <a:r>
              <a:rPr lang="en-US" sz="1100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BRILiaN Way Arcade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848295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  Ideation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77095" y="6355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A6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91440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400" spc="-80" kern="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ideas walked into </a:t>
            </a:r>
            <a:pPr algn="l" indent="0" marL="0">
              <a:lnSpc>
                <a:spcPct val="105000"/>
              </a:lnSpc>
              <a:buNone/>
            </a:pPr>
            <a:r>
              <a:rPr lang="en-US" sz="4400" i="1" spc="-80" kern="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repo.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685800" y="2011680"/>
            <a:ext cx="5272888" cy="4206240"/>
          </a:xfrm>
          <a:prstGeom prst="roundRect">
            <a:avLst>
              <a:gd name="adj" fmla="val 5435"/>
            </a:avLst>
          </a:prstGeom>
          <a:solidFill>
            <a:srgbClr val="F2F2F3"/>
          </a:solidFill>
          <a:ln w="12700">
            <a:solidFill>
              <a:srgbClr val="F2F2F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240280"/>
            <a:ext cx="472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Idea 01 · How we build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60120" y="2542032"/>
            <a:ext cx="4724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Spec-driven, with GitHub Copilot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60120" y="3154680"/>
            <a:ext cx="4724248" cy="283464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ECECEC"/>
            </a:solidFill>
            <a:prstDash val="solid"/>
          </a:ln>
          <a:effectLst>
            <a:outerShdw sx="100000" sy="100000" kx="0" ky="0" algn="bl" rotWithShape="0" blurRad="228600" dist="101600" dir="5400000">
              <a:srgbClr val="000000">
                <a:alpha val="10000"/>
              </a:srgbClr>
            </a:outerShdw>
          </a:effectLst>
        </p:spPr>
      </p:sp>
      <p:pic>
        <p:nvPicPr>
          <p:cNvPr id="10" name="Image 0" descr="/private/tmp/bw-deck/img/doc-propos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51560" y="3246120"/>
            <a:ext cx="4541368" cy="265176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233008" y="2011680"/>
            <a:ext cx="5272888" cy="4206240"/>
          </a:xfrm>
          <a:prstGeom prst="roundRect">
            <a:avLst>
              <a:gd name="adj" fmla="val 5435"/>
            </a:avLst>
          </a:prstGeom>
          <a:solidFill>
            <a:srgbClr val="F2F2F3"/>
          </a:solidFill>
          <a:ln w="12700">
            <a:solidFill>
              <a:srgbClr val="F2F2F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07328" y="2240280"/>
            <a:ext cx="472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Idea 02 · What we build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507328" y="2542032"/>
            <a:ext cx="4724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BRILiaN Way, as mini-games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6507328" y="3154680"/>
            <a:ext cx="4724248" cy="283464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ECECEC"/>
            </a:solidFill>
            <a:prstDash val="solid"/>
          </a:ln>
          <a:effectLst>
            <a:outerShdw sx="100000" sy="100000" kx="0" ky="0" algn="bl" rotWithShape="0" blurRad="228600" dist="101600" dir="5400000">
              <a:srgbClr val="000000">
                <a:alpha val="10000"/>
              </a:srgbClr>
            </a:outerShdw>
          </a:effectLst>
        </p:spPr>
      </p:sp>
      <p:pic>
        <p:nvPicPr>
          <p:cNvPr id="15" name="Image 1" descr="/private/tmp/bw-deck/img/hom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98768" y="3246120"/>
            <a:ext cx="4541368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●  </a:t>
            </a:r>
            <a:pPr indent="0" marL="0">
              <a:buNone/>
            </a:pPr>
            <a:r>
              <a:rPr lang="en-US" sz="1100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BRILiaN Way Arcade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848295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  Ideation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77095" y="6355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A6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91440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400" spc="-80" kern="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journey, </a:t>
            </a:r>
            <a:pPr algn="l" indent="0" marL="0">
              <a:lnSpc>
                <a:spcPct val="105000"/>
              </a:lnSpc>
              <a:buNone/>
            </a:pPr>
            <a:r>
              <a:rPr lang="en-US" sz="4400" i="1" spc="-80" kern="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</a:t>
            </a:r>
            <a:pPr algn="l" indent="0" marL="0">
              <a:lnSpc>
                <a:spcPct val="105000"/>
              </a:lnSpc>
              <a:buNone/>
            </a:pPr>
            <a:r>
              <a:rPr lang="en-US" sz="4400" spc="-80" kern="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owners.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685800" y="2011680"/>
            <a:ext cx="2017715" cy="3977640"/>
          </a:xfrm>
          <a:prstGeom prst="roundRect">
            <a:avLst>
              <a:gd name="adj" fmla="val 113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/private/tmp/bw-deck/img/integrit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2148840"/>
            <a:ext cx="1743395" cy="23774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4709160"/>
            <a:ext cx="16519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 · Integrity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68680" y="4983480"/>
            <a:ext cx="16519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Word Shooter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68680" y="5486400"/>
            <a:ext cx="16519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777B8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25 s round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886395" y="2011680"/>
            <a:ext cx="2017715" cy="3977640"/>
          </a:xfrm>
          <a:prstGeom prst="roundRect">
            <a:avLst>
              <a:gd name="adj" fmla="val 113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/private/tmp/bw-deck/img/collaborativ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023555" y="2148840"/>
            <a:ext cx="1743395" cy="23774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069275" y="4709160"/>
            <a:ext cx="16519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 · Collaborative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3069275" y="4983480"/>
            <a:ext cx="16519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Blind Builder</a:t>
            </a:r>
            <a:endParaRPr lang="en-US" sz="1900" dirty="0"/>
          </a:p>
        </p:txBody>
      </p:sp>
      <p:sp>
        <p:nvSpPr>
          <p:cNvPr id="15" name="Text 11"/>
          <p:cNvSpPr/>
          <p:nvPr/>
        </p:nvSpPr>
        <p:spPr>
          <a:xfrm>
            <a:off x="3069275" y="5486400"/>
            <a:ext cx="16519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777B8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180 s round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086990" y="2011680"/>
            <a:ext cx="2017715" cy="3977640"/>
          </a:xfrm>
          <a:prstGeom prst="roundRect">
            <a:avLst>
              <a:gd name="adj" fmla="val 113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2" descr="/private/tmp/bw-deck/img/accountability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224150" y="2148840"/>
            <a:ext cx="1743395" cy="23774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269870" y="4709160"/>
            <a:ext cx="16519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 · Accountability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5269870" y="4983480"/>
            <a:ext cx="16519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Kasir Sat Set</a:t>
            </a:r>
            <a:endParaRPr lang="en-US" sz="1900" dirty="0"/>
          </a:p>
        </p:txBody>
      </p:sp>
      <p:sp>
        <p:nvSpPr>
          <p:cNvPr id="20" name="Text 15"/>
          <p:cNvSpPr/>
          <p:nvPr/>
        </p:nvSpPr>
        <p:spPr>
          <a:xfrm>
            <a:off x="5269870" y="5486400"/>
            <a:ext cx="16519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777B8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20 s round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7287585" y="2011680"/>
            <a:ext cx="2017715" cy="3977640"/>
          </a:xfrm>
          <a:prstGeom prst="roundRect">
            <a:avLst>
              <a:gd name="adj" fmla="val 113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3" descr="/private/tmp/bw-deck/img/growth-mindset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424745" y="2148840"/>
            <a:ext cx="1743395" cy="23774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470465" y="4709160"/>
            <a:ext cx="16519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 · Growth Mindset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7470465" y="4983480"/>
            <a:ext cx="16519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Pola Tumbuh</a:t>
            </a:r>
            <a:endParaRPr lang="en-US" sz="1900" dirty="0"/>
          </a:p>
        </p:txBody>
      </p:sp>
      <p:sp>
        <p:nvSpPr>
          <p:cNvPr id="25" name="Text 19"/>
          <p:cNvSpPr/>
          <p:nvPr/>
        </p:nvSpPr>
        <p:spPr>
          <a:xfrm>
            <a:off x="7470465" y="5486400"/>
            <a:ext cx="16519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777B8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20 s round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9488180" y="2011680"/>
            <a:ext cx="2017715" cy="3977640"/>
          </a:xfrm>
          <a:prstGeom prst="roundRect">
            <a:avLst>
              <a:gd name="adj" fmla="val 113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7" name="Image 4" descr="/private/tmp/bw-deck/img/customer-focus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625340" y="2148840"/>
            <a:ext cx="1743395" cy="237744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9671060" y="4709160"/>
            <a:ext cx="16519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 · Customer Focus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9671060" y="4983480"/>
            <a:ext cx="16519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Meja Layanan</a:t>
            </a:r>
            <a:endParaRPr lang="en-US" sz="1900" dirty="0"/>
          </a:p>
        </p:txBody>
      </p:sp>
      <p:sp>
        <p:nvSpPr>
          <p:cNvPr id="30" name="Text 23"/>
          <p:cNvSpPr/>
          <p:nvPr/>
        </p:nvSpPr>
        <p:spPr>
          <a:xfrm>
            <a:off x="9671060" y="5486400"/>
            <a:ext cx="16519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777B8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45 s round</a:t>
            </a:r>
            <a:endParaRPr lang="en-US" sz="1100" dirty="0"/>
          </a:p>
        </p:txBody>
      </p:sp>
      <p:sp>
        <p:nvSpPr>
          <p:cNvPr id="31" name="Text 24"/>
          <p:cNvSpPr/>
          <p:nvPr/>
        </p:nvSpPr>
        <p:spPr>
          <a:xfrm>
            <a:off x="68580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777B8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contract  ·  one score 0–100 per game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●  </a:t>
            </a:r>
            <a:pPr indent="0" marL="0">
              <a:buNone/>
            </a:pPr>
            <a:r>
              <a:rPr lang="en-US" sz="1100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BRILiaN Way Arcade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848295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  Process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77095" y="6355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A6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2377440"/>
            <a:ext cx="5943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400" spc="-160" kern="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 first.</a:t>
            </a:r>
            <a:pPr algn="l" indent="0" marL="0">
              <a:lnSpc>
                <a:spcPct val="105000"/>
              </a:lnSpc>
              <a:buNone/>
            </a:pPr>
            <a:endParaRPr lang="en-US" sz="6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400" i="1" spc="-160" kern="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Code second.</a:t>
            </a:r>
            <a:endParaRPr lang="en-US" sz="6400" dirty="0"/>
          </a:p>
        </p:txBody>
      </p:sp>
      <p:sp>
        <p:nvSpPr>
          <p:cNvPr id="7" name="Shape 5"/>
          <p:cNvSpPr/>
          <p:nvPr/>
        </p:nvSpPr>
        <p:spPr>
          <a:xfrm>
            <a:off x="6766560" y="960120"/>
            <a:ext cx="3291840" cy="32004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CECEC"/>
            </a:solidFill>
            <a:prstDash val="solid"/>
          </a:ln>
          <a:effectLst>
            <a:outerShdw sx="100000" sy="100000" kx="0" ky="0" algn="bl" rotWithShape="0" blurRad="228600" dist="1016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/private/tmp/bw-deck/img/doc-tree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0" y="1051560"/>
            <a:ext cx="3108960" cy="30175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863840" y="2926080"/>
            <a:ext cx="3657600" cy="301752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ECECEC"/>
            </a:solidFill>
            <a:prstDash val="solid"/>
          </a:ln>
          <a:effectLst>
            <a:outerShdw sx="100000" sy="100000" kx="0" ky="0" algn="bl" rotWithShape="0" blurRad="228600" dist="101600" dir="5400000">
              <a:srgbClr val="000000">
                <a:alpha val="10000"/>
              </a:srgbClr>
            </a:outerShdw>
          </a:effectLst>
        </p:spPr>
      </p:sp>
      <p:pic>
        <p:nvPicPr>
          <p:cNvPr id="10" name="Image 1" descr="/private/tmp/bw-deck/img/doc-proposal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955280" y="3017520"/>
            <a:ext cx="3474720" cy="2834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●  </a:t>
            </a:r>
            <a:pPr indent="0" marL="0">
              <a:buNone/>
            </a:pPr>
            <a:r>
              <a:rPr lang="en-US" sz="1100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BRILiaN Way Arcade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848295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  Process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77095" y="6355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A6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06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914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Step 0 · the hub change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11887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000" i="1" spc="-50" kern="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Boundaries</a:t>
            </a:r>
            <a:pPr algn="l" indent="0" marL="0">
              <a:lnSpc>
                <a:spcPct val="105000"/>
              </a:lnSpc>
              <a:buNone/>
            </a:pPr>
            <a:r>
              <a:rPr lang="en-US" sz="4000" spc="-50" kern="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first.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85800" y="22402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—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240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Fixed order of five values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85800" y="26974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51560" y="2697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folder per game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85800" y="31546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—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51560" y="3154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contract, one score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85800" y="3794760"/>
            <a:ext cx="4937760" cy="2331720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ECECEC"/>
            </a:solidFill>
            <a:prstDash val="solid"/>
          </a:ln>
          <a:effectLst>
            <a:outerShdw sx="100000" sy="100000" kx="0" ky="0" algn="bl" rotWithShape="0" blurRad="228600" dist="101600" dir="54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60120" y="3931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src/games/contract.ts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434340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17191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onComplete({ valueId, score })   // 0–100, once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17191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onCancel()                       // no points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17191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onError(error)                   // no points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89320" y="1143000"/>
            <a:ext cx="5532120" cy="356616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CECEC"/>
            </a:solidFill>
            <a:prstDash val="solid"/>
          </a:ln>
          <a:effectLst>
            <a:outerShdw sx="100000" sy="100000" kx="0" ky="0" algn="bl" rotWithShape="0" blurRad="228600" dist="101600" dir="5400000">
              <a:srgbClr val="000000">
                <a:alpha val="10000"/>
              </a:srgbClr>
            </a:outerShdw>
          </a:effectLst>
        </p:spPr>
      </p:sp>
      <p:pic>
        <p:nvPicPr>
          <p:cNvPr id="17" name="Image 0" descr="/private/tmp/bw-deck/img/briefin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80760" y="1234440"/>
            <a:ext cx="5349240" cy="338328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6035040" y="4846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777B8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shell owns the route; each game only plugs in.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●  </a:t>
            </a:r>
            <a:pPr indent="0" marL="0">
              <a:buNone/>
            </a:pPr>
            <a:r>
              <a:rPr lang="en-US" sz="1100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BRILiaN Way Arcade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848295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  Process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77095" y="6355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A6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91440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400" spc="-80" kern="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loop every game </a:t>
            </a:r>
            <a:pPr algn="l" indent="0" marL="0">
              <a:lnSpc>
                <a:spcPct val="105000"/>
              </a:lnSpc>
              <a:buNone/>
            </a:pPr>
            <a:r>
              <a:rPr lang="en-US" sz="4400" i="1" spc="-80" kern="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went through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685800" y="1965960"/>
            <a:ext cx="2533574" cy="1188720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60120" y="2331720"/>
            <a:ext cx="19849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Explore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60120" y="2788920"/>
            <a:ext cx="19849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777B8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/opsx-explore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219374" y="237744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447974" y="1965960"/>
            <a:ext cx="2533574" cy="1188720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22294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722294" y="2331720"/>
            <a:ext cx="19849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Propose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722294" y="2788920"/>
            <a:ext cx="19849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777B8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/opsx-propose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81548" y="237744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210148" y="1965960"/>
            <a:ext cx="2533574" cy="1188720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84468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84468" y="2331720"/>
            <a:ext cx="19849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Apply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484468" y="2788920"/>
            <a:ext cx="19849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777B8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/opsx-apply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743721" y="237744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972321" y="1965960"/>
            <a:ext cx="2533574" cy="1188720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46641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246641" y="2331720"/>
            <a:ext cx="19849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Archive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9246641" y="2788920"/>
            <a:ext cx="19849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777B8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/opsx-archive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85800" y="3474720"/>
            <a:ext cx="5120640" cy="2697480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9525">
            <a:solidFill>
              <a:srgbClr val="ECECEC"/>
            </a:solidFill>
            <a:prstDash val="solid"/>
          </a:ln>
          <a:effectLst>
            <a:outerShdw sx="100000" sy="100000" kx="0" ky="0" algn="bl" rotWithShape="0" blurRad="228600" dist="1016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60120" y="3611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tasks.md · done / planned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60120" y="3977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hub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468880" y="4069080"/>
            <a:ext cx="2514600" cy="82296"/>
          </a:xfrm>
          <a:prstGeom prst="roundRect">
            <a:avLst>
              <a:gd name="adj" fmla="val 50000"/>
            </a:avLst>
          </a:prstGeom>
          <a:solidFill>
            <a:srgbClr val="F2F2F3"/>
          </a:solidFill>
          <a:ln w="12700">
            <a:solidFill>
              <a:srgbClr val="F2F2F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468880" y="4069080"/>
            <a:ext cx="2514600" cy="82296"/>
          </a:xfrm>
          <a:prstGeom prst="roundRect">
            <a:avLst>
              <a:gd name="adj" fmla="val 50000"/>
            </a:avLst>
          </a:prstGeom>
          <a:solidFill>
            <a:srgbClr val="5D2A1A"/>
          </a:solidFill>
          <a:ln w="12700">
            <a:solidFill>
              <a:srgbClr val="5D2A1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77B8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11/11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60120" y="43251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integrity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468880" y="4416552"/>
            <a:ext cx="2514600" cy="82296"/>
          </a:xfrm>
          <a:prstGeom prst="roundRect">
            <a:avLst>
              <a:gd name="adj" fmla="val 50000"/>
            </a:avLst>
          </a:prstGeom>
          <a:solidFill>
            <a:srgbClr val="F2F2F3"/>
          </a:solidFill>
          <a:ln w="12700">
            <a:solidFill>
              <a:srgbClr val="F2F2F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68880" y="4416552"/>
            <a:ext cx="2200275" cy="82296"/>
          </a:xfrm>
          <a:prstGeom prst="roundRect">
            <a:avLst>
              <a:gd name="adj" fmla="val 50000"/>
            </a:avLst>
          </a:prstGeom>
          <a:solidFill>
            <a:srgbClr val="5D2A1A"/>
          </a:solidFill>
          <a:ln w="12700">
            <a:solidFill>
              <a:srgbClr val="5D2A1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0" y="43251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77B8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14/16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60120" y="46725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collaborative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468880" y="4764024"/>
            <a:ext cx="2514600" cy="82296"/>
          </a:xfrm>
          <a:prstGeom prst="roundRect">
            <a:avLst>
              <a:gd name="adj" fmla="val 50000"/>
            </a:avLst>
          </a:prstGeom>
          <a:solidFill>
            <a:srgbClr val="F2F2F3"/>
          </a:solidFill>
          <a:ln w="12700">
            <a:solidFill>
              <a:srgbClr val="F2F2F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68880" y="4764024"/>
            <a:ext cx="2286000" cy="82296"/>
          </a:xfrm>
          <a:prstGeom prst="roundRect">
            <a:avLst>
              <a:gd name="adj" fmla="val 50000"/>
            </a:avLst>
          </a:prstGeom>
          <a:solidFill>
            <a:srgbClr val="5D2A1A"/>
          </a:solidFill>
          <a:ln w="12700">
            <a:solidFill>
              <a:srgbClr val="5D2A1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29200" y="467258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77B8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10/11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60120" y="50200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accountability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468880" y="5111496"/>
            <a:ext cx="2514600" cy="82296"/>
          </a:xfrm>
          <a:prstGeom prst="roundRect">
            <a:avLst>
              <a:gd name="adj" fmla="val 50000"/>
            </a:avLst>
          </a:prstGeom>
          <a:solidFill>
            <a:srgbClr val="F2F2F3"/>
          </a:solidFill>
          <a:ln w="12700">
            <a:solidFill>
              <a:srgbClr val="F2F2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468880" y="5111496"/>
            <a:ext cx="2417885" cy="82296"/>
          </a:xfrm>
          <a:prstGeom prst="roundRect">
            <a:avLst>
              <a:gd name="adj" fmla="val 50000"/>
            </a:avLst>
          </a:prstGeom>
          <a:solidFill>
            <a:srgbClr val="5D2A1A"/>
          </a:solidFill>
          <a:ln w="12700">
            <a:solidFill>
              <a:srgbClr val="5D2A1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29200" y="50200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77B8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25/26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60120" y="5367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growth ×3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2468880" y="5458968"/>
            <a:ext cx="2514600" cy="82296"/>
          </a:xfrm>
          <a:prstGeom prst="roundRect">
            <a:avLst>
              <a:gd name="adj" fmla="val 50000"/>
            </a:avLst>
          </a:prstGeom>
          <a:solidFill>
            <a:srgbClr val="F2F2F3"/>
          </a:solidFill>
          <a:ln w="12700">
            <a:solidFill>
              <a:srgbClr val="F2F2F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468880" y="5458968"/>
            <a:ext cx="2514600" cy="82296"/>
          </a:xfrm>
          <a:prstGeom prst="roundRect">
            <a:avLst>
              <a:gd name="adj" fmla="val 50000"/>
            </a:avLst>
          </a:prstGeom>
          <a:solidFill>
            <a:srgbClr val="5D2A1A"/>
          </a:solidFill>
          <a:ln w="12700">
            <a:solidFill>
              <a:srgbClr val="5D2A1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029200" y="5367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77B8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32/32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960120" y="57150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customer focus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2468880" y="5806440"/>
            <a:ext cx="2514600" cy="82296"/>
          </a:xfrm>
          <a:prstGeom prst="roundRect">
            <a:avLst>
              <a:gd name="adj" fmla="val 50000"/>
            </a:avLst>
          </a:prstGeom>
          <a:solidFill>
            <a:srgbClr val="F2F2F3"/>
          </a:solidFill>
          <a:ln w="12700">
            <a:solidFill>
              <a:srgbClr val="F2F2F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468880" y="5806440"/>
            <a:ext cx="2514600" cy="82296"/>
          </a:xfrm>
          <a:prstGeom prst="roundRect">
            <a:avLst>
              <a:gd name="adj" fmla="val 50000"/>
            </a:avLst>
          </a:prstGeom>
          <a:solidFill>
            <a:srgbClr val="5D2A1A"/>
          </a:solidFill>
          <a:ln w="12700">
            <a:solidFill>
              <a:srgbClr val="5D2A1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29200" y="57150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77B8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17/17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080760" y="3474720"/>
            <a:ext cx="5440680" cy="2697480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9525">
            <a:solidFill>
              <a:srgbClr val="ECECEC"/>
            </a:solidFill>
            <a:prstDash val="solid"/>
          </a:ln>
          <a:effectLst>
            <a:outerShdw sx="100000" sy="100000" kx="0" ky="0" algn="bl" rotWithShape="0" blurRad="228600" dist="101600" dir="5400000">
              <a:srgbClr val="000000">
                <a:alpha val="10000"/>
              </a:srgbClr>
            </a:outerShdw>
          </a:effectLst>
        </p:spPr>
      </p:sp>
      <p:pic>
        <p:nvPicPr>
          <p:cNvPr id="52" name="Image 0" descr="/private/tmp/bw-deck/img/doc-task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72200" y="3566160"/>
            <a:ext cx="525780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●  </a:t>
            </a:r>
            <a:pPr indent="0" marL="0">
              <a:buNone/>
            </a:pPr>
            <a:r>
              <a:rPr lang="en-US" sz="1100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BRILiaN Way Arcade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848295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  Process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77095" y="6355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A6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08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91440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400" spc="-80" kern="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Agents with </a:t>
            </a:r>
            <a:pPr algn="l" indent="0" marL="0">
              <a:lnSpc>
                <a:spcPct val="105000"/>
              </a:lnSpc>
              <a:buNone/>
            </a:pPr>
            <a:r>
              <a:rPr lang="en-US" sz="4400" i="1" spc="-80" kern="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guardrails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685800" y="2011680"/>
            <a:ext cx="3749040" cy="420624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ECECEC"/>
            </a:solidFill>
            <a:prstDash val="solid"/>
          </a:ln>
          <a:effectLst>
            <a:outerShdw sx="100000" sy="100000" kx="0" ky="0" algn="bl" rotWithShape="0" blurRad="228600" dist="1016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/private/tmp/bw-deck/img/doc-tre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2103120"/>
            <a:ext cx="3566160" cy="40233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892040" y="2057400"/>
            <a:ext cx="6613855" cy="0"/>
          </a:xfrm>
          <a:prstGeom prst="line">
            <a:avLst/>
          </a:prstGeom>
          <a:noFill/>
          <a:ln w="9525">
            <a:solidFill>
              <a:srgbClr val="ECEC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892040" y="225856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OpenSpec agent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8229600" y="2331720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77B8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.github/agents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892040" y="2880360"/>
            <a:ext cx="6613855" cy="0"/>
          </a:xfrm>
          <a:prstGeom prst="line">
            <a:avLst/>
          </a:prstGeom>
          <a:noFill/>
          <a:ln w="9525">
            <a:solidFill>
              <a:srgbClr val="ECEC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892040" y="308152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reusable skills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8229600" y="3154680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77B8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.github/skills · prompts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892040" y="3703320"/>
            <a:ext cx="6613855" cy="0"/>
          </a:xfrm>
          <a:prstGeom prst="line">
            <a:avLst/>
          </a:prstGeom>
          <a:noFill/>
          <a:ln w="9525">
            <a:solidFill>
              <a:srgbClr val="ECEC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892040" y="390448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Subagents per stage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8229600" y="3977640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77B8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research → build → review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892040" y="4526280"/>
            <a:ext cx="6613855" cy="0"/>
          </a:xfrm>
          <a:prstGeom prst="line">
            <a:avLst/>
          </a:prstGeom>
          <a:noFill/>
          <a:ln w="9525">
            <a:solidFill>
              <a:srgbClr val="ECEC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892040" y="472744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House rules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8229600" y="4800600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77B8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copilot-instructions.md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892040" y="5349240"/>
            <a:ext cx="6613855" cy="0"/>
          </a:xfrm>
          <a:prstGeom prst="line">
            <a:avLst/>
          </a:prstGeom>
          <a:noFill/>
          <a:ln w="9525">
            <a:solidFill>
              <a:srgbClr val="ECEC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892040" y="555040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 on every PR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8229600" y="5623560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77B8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typecheck · test · build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●  </a:t>
            </a:r>
            <a:pPr indent="0" marL="0">
              <a:buNone/>
            </a:pPr>
            <a:r>
              <a:rPr lang="en-US" sz="1100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BRILiaN Way Arcade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848295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  Process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77095" y="6355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A6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09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914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Case study · Growth Mindset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118872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400" spc="-80" kern="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game, </a:t>
            </a:r>
            <a:pPr algn="l" indent="0" marL="0">
              <a:lnSpc>
                <a:spcPct val="105000"/>
              </a:lnSpc>
              <a:buNone/>
            </a:pPr>
            <a:r>
              <a:rPr lang="en-US" sz="4400" i="1" spc="-80" kern="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</a:t>
            </a:r>
            <a:pPr algn="l" indent="0" marL="0">
              <a:lnSpc>
                <a:spcPct val="105000"/>
              </a:lnSpc>
              <a:buNone/>
            </a:pPr>
            <a:r>
              <a:rPr lang="en-US" sz="4400" spc="-80" kern="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specs.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685800" y="2423160"/>
            <a:ext cx="164592" cy="164592"/>
          </a:xfrm>
          <a:prstGeom prst="ellipse">
            <a:avLst/>
          </a:prstGeom>
          <a:solidFill>
            <a:srgbClr val="17191C"/>
          </a:solidFill>
          <a:ln w="12700">
            <a:solidFill>
              <a:srgbClr val="1719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2606040"/>
            <a:ext cx="0" cy="475488"/>
          </a:xfrm>
          <a:prstGeom prst="line">
            <a:avLst/>
          </a:prstGeom>
          <a:noFill/>
          <a:ln w="12700">
            <a:solidFill>
              <a:srgbClr val="A3A6A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377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191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growth-mindset-mini-game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051560" y="2651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77B8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base game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3108960"/>
            <a:ext cx="164592" cy="164592"/>
          </a:xfrm>
          <a:prstGeom prst="ellipse">
            <a:avLst/>
          </a:prstGeom>
          <a:solidFill>
            <a:srgbClr val="17191C"/>
          </a:solidFill>
          <a:ln w="12700">
            <a:solidFill>
              <a:srgbClr val="1719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8096" y="3291840"/>
            <a:ext cx="0" cy="475488"/>
          </a:xfrm>
          <a:prstGeom prst="line">
            <a:avLst/>
          </a:prstGeom>
          <a:noFill/>
          <a:ln w="12700">
            <a:solidFill>
              <a:srgbClr val="A3A6A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3063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191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progressive-difficulty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051560" y="3337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77B8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faster every level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3794760"/>
            <a:ext cx="164592" cy="164592"/>
          </a:xfrm>
          <a:prstGeom prst="ellipse">
            <a:avLst/>
          </a:prstGeom>
          <a:solidFill>
            <a:srgbClr val="17191C"/>
          </a:solidFill>
          <a:ln w="12700">
            <a:solidFill>
              <a:srgbClr val="1719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3749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191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failure-can-continue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051560" y="4023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77B8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FAIL no longer blocks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4526280"/>
            <a:ext cx="237744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CECEC"/>
            </a:solidFill>
            <a:prstDash val="solid"/>
          </a:ln>
          <a:effectLst>
            <a:outerShdw sx="100000" sy="100000" kx="0" ky="0" algn="bl" rotWithShape="0" blurRad="228600" dist="101600" dir="5400000">
              <a:srgbClr val="000000">
                <a:alpha val="10000"/>
              </a:srgbClr>
            </a:outerShdw>
          </a:effectLst>
        </p:spPr>
      </p:sp>
      <p:pic>
        <p:nvPicPr>
          <p:cNvPr id="19" name="Image 0" descr="/private/tmp/bw-deck/img/growth-mindse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4617720"/>
            <a:ext cx="2194560" cy="1463040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3246120" y="4526280"/>
            <a:ext cx="274320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CECEC"/>
            </a:solidFill>
            <a:prstDash val="solid"/>
          </a:ln>
          <a:effectLst>
            <a:outerShdw sx="100000" sy="100000" kx="0" ky="0" algn="bl" rotWithShape="0" blurRad="228600" dist="101600" dir="5400000">
              <a:srgbClr val="000000">
                <a:alpha val="10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3429000" y="4617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ms per arrow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429000" y="4846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550 → 260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3520440" y="5303520"/>
            <a:ext cx="548640" cy="220717"/>
          </a:xfrm>
          <a:prstGeom prst="line">
            <a:avLst/>
          </a:prstGeom>
          <a:noFill/>
          <a:ln w="25400">
            <a:solidFill>
              <a:srgbClr val="5D2A1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069080" y="5524237"/>
            <a:ext cx="548640" cy="154502"/>
          </a:xfrm>
          <a:prstGeom prst="line">
            <a:avLst/>
          </a:prstGeom>
          <a:noFill/>
          <a:ln w="25400">
            <a:solidFill>
              <a:srgbClr val="5D2A1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617720" y="5678739"/>
            <a:ext cx="548640" cy="132430"/>
          </a:xfrm>
          <a:prstGeom prst="line">
            <a:avLst/>
          </a:prstGeom>
          <a:noFill/>
          <a:ln w="25400">
            <a:solidFill>
              <a:srgbClr val="5D2A1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166360" y="5811170"/>
            <a:ext cx="548640" cy="132430"/>
          </a:xfrm>
          <a:prstGeom prst="line">
            <a:avLst/>
          </a:prstGeom>
          <a:noFill/>
          <a:ln w="25400">
            <a:solidFill>
              <a:srgbClr val="5D2A1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479292" y="5262372"/>
            <a:ext cx="82296" cy="82296"/>
          </a:xfrm>
          <a:prstGeom prst="ellipse">
            <a:avLst/>
          </a:prstGeom>
          <a:solidFill>
            <a:srgbClr val="5D2A1A"/>
          </a:solidFill>
          <a:ln w="12700">
            <a:solidFill>
              <a:srgbClr val="5D2A1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027932" y="5483089"/>
            <a:ext cx="82296" cy="82296"/>
          </a:xfrm>
          <a:prstGeom prst="ellipse">
            <a:avLst/>
          </a:prstGeom>
          <a:solidFill>
            <a:srgbClr val="5D2A1A"/>
          </a:solidFill>
          <a:ln w="12700">
            <a:solidFill>
              <a:srgbClr val="5D2A1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76572" y="5637591"/>
            <a:ext cx="82296" cy="82296"/>
          </a:xfrm>
          <a:prstGeom prst="ellipse">
            <a:avLst/>
          </a:prstGeom>
          <a:solidFill>
            <a:srgbClr val="5D2A1A"/>
          </a:solidFill>
          <a:ln w="12700">
            <a:solidFill>
              <a:srgbClr val="5D2A1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125212" y="5770022"/>
            <a:ext cx="82296" cy="82296"/>
          </a:xfrm>
          <a:prstGeom prst="ellipse">
            <a:avLst/>
          </a:prstGeom>
          <a:solidFill>
            <a:srgbClr val="5D2A1A"/>
          </a:solidFill>
          <a:ln w="12700">
            <a:solidFill>
              <a:srgbClr val="5D2A1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5673852" y="5902452"/>
            <a:ext cx="82296" cy="82296"/>
          </a:xfrm>
          <a:prstGeom prst="ellipse">
            <a:avLst/>
          </a:prstGeom>
          <a:solidFill>
            <a:srgbClr val="5D2A1A"/>
          </a:solidFill>
          <a:ln w="12700">
            <a:solidFill>
              <a:srgbClr val="5D2A1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583680" y="1188720"/>
            <a:ext cx="4937760" cy="1581912"/>
          </a:xfrm>
          <a:prstGeom prst="roundRect">
            <a:avLst>
              <a:gd name="adj" fmla="val 11561"/>
            </a:avLst>
          </a:prstGeom>
          <a:solidFill>
            <a:srgbClr val="FFFFFF"/>
          </a:solidFill>
          <a:ln w="9525">
            <a:solidFill>
              <a:srgbClr val="ECECEC"/>
            </a:solidFill>
            <a:prstDash val="solid"/>
          </a:ln>
          <a:effectLst>
            <a:outerShdw sx="100000" sy="100000" kx="0" ky="0" algn="bl" rotWithShape="0" blurRad="228600" dist="101600" dir="5400000">
              <a:srgbClr val="000000">
                <a:alpha val="10000"/>
              </a:srgbClr>
            </a:outerShdw>
          </a:effectLst>
        </p:spPr>
      </p:sp>
      <p:pic>
        <p:nvPicPr>
          <p:cNvPr id="33" name="Image 1" descr="/private/tmp/bw-deck/img/gm-fail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75120" y="1280160"/>
            <a:ext cx="4754880" cy="1399032"/>
          </a:xfrm>
          <a:prstGeom prst="rect">
            <a:avLst/>
          </a:prstGeom>
        </p:spPr>
      </p:pic>
      <p:sp>
        <p:nvSpPr>
          <p:cNvPr id="34" name="Text 30"/>
          <p:cNvSpPr/>
          <p:nvPr/>
        </p:nvSpPr>
        <p:spPr>
          <a:xfrm>
            <a:off x="6629400" y="28803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777B8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Change 3, live: FAIL, but you can continue.</a:t>
            </a:r>
            <a:endParaRPr lang="en-US" sz="1100" dirty="0"/>
          </a:p>
        </p:txBody>
      </p:sp>
      <p:sp>
        <p:nvSpPr>
          <p:cNvPr id="35" name="Shape 31"/>
          <p:cNvSpPr/>
          <p:nvPr/>
        </p:nvSpPr>
        <p:spPr>
          <a:xfrm>
            <a:off x="6583680" y="3337560"/>
            <a:ext cx="4937760" cy="283464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ECECEC"/>
            </a:solidFill>
            <a:prstDash val="solid"/>
          </a:ln>
          <a:effectLst>
            <a:outerShdw sx="100000" sy="100000" kx="0" ky="0" algn="bl" rotWithShape="0" blurRad="228600" dist="101600" dir="5400000">
              <a:srgbClr val="000000">
                <a:alpha val="10000"/>
              </a:srgbClr>
            </a:outerShdw>
          </a:effectLst>
        </p:spPr>
      </p:sp>
      <p:pic>
        <p:nvPicPr>
          <p:cNvPr id="36" name="Image 2" descr="/private/tmp/bw-deck/img/leaderboard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675120" y="3429000"/>
            <a:ext cx="475488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●  </a:t>
            </a:r>
            <a:pPr indent="0" marL="0">
              <a:buNone/>
            </a:pPr>
            <a:r>
              <a:rPr lang="en-US" sz="1100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BRILiaN Way Arcade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848295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  Struggle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77095" y="6355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A6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91440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000" spc="-50" kern="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specs </a:t>
            </a:r>
            <a:pPr algn="l" indent="0" marL="0">
              <a:lnSpc>
                <a:spcPct val="105000"/>
              </a:lnSpc>
              <a:buNone/>
            </a:pPr>
            <a:r>
              <a:rPr lang="en-US" sz="4000" i="1" spc="-50" kern="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help</a:t>
            </a:r>
            <a:pPr algn="l" indent="0" marL="0">
              <a:lnSpc>
                <a:spcPct val="105000"/>
              </a:lnSpc>
              <a:buNone/>
            </a:pPr>
            <a:r>
              <a:rPr lang="en-US" sz="4000" spc="-50" kern="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and when they </a:t>
            </a:r>
            <a:pPr algn="l" indent="0" marL="0">
              <a:lnSpc>
                <a:spcPct val="105000"/>
              </a:lnSpc>
              <a:buNone/>
            </a:pPr>
            <a:r>
              <a:rPr lang="en-US" sz="4000" i="1" spc="-50" kern="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hurt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685800" y="1965960"/>
            <a:ext cx="5272888" cy="4251960"/>
          </a:xfrm>
          <a:prstGeom prst="roundRect">
            <a:avLst>
              <a:gd name="adj" fmla="val 5376"/>
            </a:avLst>
          </a:prstGeom>
          <a:solidFill>
            <a:srgbClr val="F2F2F3"/>
          </a:solidFill>
          <a:ln w="12700">
            <a:solidFill>
              <a:srgbClr val="F2F2F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194560"/>
            <a:ext cx="3444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Where it paid off</a:t>
            </a:r>
            <a:endParaRPr lang="en-US" sz="1700" dirty="0"/>
          </a:p>
        </p:txBody>
      </p:sp>
      <p:pic>
        <p:nvPicPr>
          <p:cNvPr id="8" name="Image 0" descr="/private/tmp/bw-deck/img/confused-happ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32808" y="2103120"/>
            <a:ext cx="1110264" cy="11887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3429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777B8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+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371600" y="3429000"/>
            <a:ext cx="4267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Many owners, one contract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05840" y="408736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777B8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+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371600" y="4087368"/>
            <a:ext cx="4267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Rules become unit tests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005840" y="474573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777B8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+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371600" y="4745736"/>
            <a:ext cx="4267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intent, not diffs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005840" y="5404104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777B8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+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371600" y="5404104"/>
            <a:ext cx="4267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Agents stay in their folder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233008" y="1965960"/>
            <a:ext cx="5272888" cy="4251960"/>
          </a:xfrm>
          <a:prstGeom prst="roundRect">
            <a:avLst>
              <a:gd name="adj" fmla="val 5376"/>
            </a:avLst>
          </a:prstGeom>
          <a:solidFill>
            <a:srgbClr val="F2F2F3"/>
          </a:solidFill>
          <a:ln w="12700">
            <a:solidFill>
              <a:srgbClr val="F2F2F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53048" y="2194560"/>
            <a:ext cx="3444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Where it slowed us</a:t>
            </a:r>
            <a:endParaRPr lang="en-US" sz="1700" dirty="0"/>
          </a:p>
        </p:txBody>
      </p:sp>
      <p:pic>
        <p:nvPicPr>
          <p:cNvPr id="19" name="Image 1" descr="/private/tmp/bw-deck/img/ang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0015" y="2103120"/>
            <a:ext cx="1110264" cy="118872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553048" y="3429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777B8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−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6918808" y="3429000"/>
            <a:ext cx="4267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Game feel is not a spec</a:t>
            </a:r>
            <a:endParaRPr lang="en-US" sz="1800" dirty="0"/>
          </a:p>
        </p:txBody>
      </p:sp>
      <p:sp>
        <p:nvSpPr>
          <p:cNvPr id="22" name="Text 18"/>
          <p:cNvSpPr/>
          <p:nvPr/>
        </p:nvSpPr>
        <p:spPr>
          <a:xfrm>
            <a:off x="6553048" y="408736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777B8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−</a:t>
            </a:r>
            <a:endParaRPr lang="en-US" sz="1600" dirty="0"/>
          </a:p>
        </p:txBody>
      </p:sp>
      <p:sp>
        <p:nvSpPr>
          <p:cNvPr id="23" name="Text 19"/>
          <p:cNvSpPr/>
          <p:nvPr/>
        </p:nvSpPr>
        <p:spPr>
          <a:xfrm>
            <a:off x="6918808" y="4087368"/>
            <a:ext cx="4267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 drift after decisions</a:t>
            </a:r>
            <a:endParaRPr lang="en-US" sz="1800" dirty="0"/>
          </a:p>
        </p:txBody>
      </p:sp>
      <p:sp>
        <p:nvSpPr>
          <p:cNvPr id="24" name="Text 20"/>
          <p:cNvSpPr/>
          <p:nvPr/>
        </p:nvSpPr>
        <p:spPr>
          <a:xfrm>
            <a:off x="6553048" y="474573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777B8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−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6918808" y="4745736"/>
            <a:ext cx="4267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Overhead on tiny tweaks</a:t>
            </a:r>
            <a:endParaRPr lang="en-US" sz="1800" dirty="0"/>
          </a:p>
        </p:txBody>
      </p:sp>
      <p:sp>
        <p:nvSpPr>
          <p:cNvPr id="26" name="Text 22"/>
          <p:cNvSpPr/>
          <p:nvPr/>
        </p:nvSpPr>
        <p:spPr>
          <a:xfrm>
            <a:off x="6553048" y="5404104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777B8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−</a:t>
            </a:r>
            <a:endParaRPr lang="en-US" sz="1600" dirty="0"/>
          </a:p>
        </p:txBody>
      </p:sp>
      <p:sp>
        <p:nvSpPr>
          <p:cNvPr id="27" name="Text 23"/>
          <p:cNvSpPr/>
          <p:nvPr/>
        </p:nvSpPr>
        <p:spPr>
          <a:xfrm>
            <a:off x="6918808" y="5404104"/>
            <a:ext cx="4267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Specs not archived yet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●  </a:t>
            </a:r>
            <a:pPr indent="0" marL="0">
              <a:buNone/>
            </a:pPr>
            <a:r>
              <a:rPr lang="en-US" sz="1100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BRILiaN Way Arcade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848295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  Struggle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77095" y="6355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A6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 / 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188720"/>
            <a:ext cx="6400800" cy="4754880"/>
          </a:xfrm>
          <a:prstGeom prst="roundRect">
            <a:avLst>
              <a:gd name="adj" fmla="val 4808"/>
            </a:avLst>
          </a:prstGeom>
          <a:solidFill>
            <a:srgbClr val="FBE1D1"/>
          </a:solidFill>
          <a:ln w="12700">
            <a:solidFill>
              <a:srgbClr val="FBE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1600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D2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moment it clicked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88720" y="2057400"/>
            <a:ext cx="53949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spc="-40" kern="0" dirty="0">
                <a:solidFill>
                  <a:srgbClr val="5D2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“The spec said </a:t>
            </a:r>
            <a:pPr indent="0" marL="0">
              <a:lnSpc>
                <a:spcPct val="115000"/>
              </a:lnSpc>
              <a:buNone/>
            </a:pPr>
            <a:r>
              <a:rPr lang="en-US" sz="3000" i="1" spc="-40" kern="0" dirty="0">
                <a:solidFill>
                  <a:srgbClr val="5D2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retry only.</a:t>
            </a:r>
            <a:pPr indent="0" marL="0">
              <a:lnSpc>
                <a:spcPct val="115000"/>
              </a:lnSpc>
              <a:buNone/>
            </a:pPr>
            <a:r>
              <a:rPr lang="en-US" sz="3000" spc="-40" kern="0" dirty="0">
                <a:solidFill>
                  <a:srgbClr val="5D2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Players wanted to </a:t>
            </a:r>
            <a:pPr indent="0" marL="0">
              <a:lnSpc>
                <a:spcPct val="115000"/>
              </a:lnSpc>
              <a:buNone/>
            </a:pPr>
            <a:r>
              <a:rPr lang="en-US" sz="3000" i="1" spc="-40" kern="0" dirty="0">
                <a:solidFill>
                  <a:srgbClr val="5D2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going.</a:t>
            </a:r>
            <a:pPr indent="0" marL="0">
              <a:lnSpc>
                <a:spcPct val="115000"/>
              </a:lnSpc>
              <a:buNone/>
            </a:pPr>
            <a:r>
              <a:rPr lang="en-US" sz="3000" spc="-40" kern="0" dirty="0">
                <a:solidFill>
                  <a:srgbClr val="5D2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One small proposal fixed it.”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188720" y="5257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D2A1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growth-mindset-failure-can-continue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406640" y="1188720"/>
            <a:ext cx="4114800" cy="146304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CECEC"/>
            </a:solidFill>
            <a:prstDash val="solid"/>
          </a:ln>
          <a:effectLst>
            <a:outerShdw sx="100000" sy="100000" kx="0" ky="0" algn="bl" rotWithShape="0" blurRad="228600" dist="101600" dir="5400000">
              <a:srgbClr val="000000">
                <a:alpha val="10000"/>
              </a:srgbClr>
            </a:outerShdw>
          </a:effectLst>
        </p:spPr>
      </p:sp>
      <p:pic>
        <p:nvPicPr>
          <p:cNvPr id="10" name="Image 0" descr="/private/tmp/bw-deck/img/gm-fai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0" y="1280160"/>
            <a:ext cx="3931920" cy="1280160"/>
          </a:xfrm>
          <a:prstGeom prst="rect">
            <a:avLst/>
          </a:prstGeom>
        </p:spPr>
      </p:pic>
      <p:pic>
        <p:nvPicPr>
          <p:cNvPr id="11" name="Image 1" descr="/private/tmp/bw-deck/img/worri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3017520"/>
            <a:ext cx="1708099" cy="18288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37260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2200" dirty="0"/>
          </a:p>
        </p:txBody>
      </p:sp>
      <p:pic>
        <p:nvPicPr>
          <p:cNvPr id="13" name="Image 2" descr="/private/tmp/bw-deck/img/worried-happ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3017520"/>
            <a:ext cx="1708099" cy="18288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406640" y="54406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777B8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Spec the behaviour. Tune the feel by playing.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●  </a:t>
            </a:r>
            <a:pPr indent="0" marL="0">
              <a:buNone/>
            </a:pPr>
            <a:r>
              <a:rPr lang="en-US" sz="1100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BRILiaN Way Arcade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848295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  Demo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77095" y="6355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A6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91440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400" spc="-80" kern="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games, </a:t>
            </a:r>
            <a:pPr algn="l" indent="0" marL="0">
              <a:lnSpc>
                <a:spcPct val="105000"/>
              </a:lnSpc>
              <a:buNone/>
            </a:pPr>
            <a:r>
              <a:rPr lang="en-US" sz="4400" i="1" spc="-80" kern="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</a:t>
            </a:r>
            <a:pPr algn="l" indent="0" marL="0">
              <a:lnSpc>
                <a:spcPct val="105000"/>
              </a:lnSpc>
              <a:buNone/>
            </a:pPr>
            <a:r>
              <a:rPr lang="en-US" sz="4400" spc="-80" kern="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art.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685800" y="1920240"/>
            <a:ext cx="6766560" cy="374904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ECECEC"/>
            </a:solidFill>
            <a:prstDash val="solid"/>
          </a:ln>
          <a:effectLst>
            <a:outerShdw sx="100000" sy="100000" kx="0" ky="0" algn="bl" rotWithShape="0" blurRad="228600" dist="1016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/private/tmp/bw-deck/img/cf-attac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2011680"/>
            <a:ext cx="6583680" cy="35661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" y="5806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Customer Focus · time ran out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726680" y="914400"/>
            <a:ext cx="3776472" cy="2606040"/>
          </a:xfrm>
          <a:prstGeom prst="roundRect">
            <a:avLst>
              <a:gd name="adj" fmla="val 8772"/>
            </a:avLst>
          </a:prstGeom>
          <a:solidFill>
            <a:srgbClr val="F2F2F3"/>
          </a:solidFill>
          <a:ln w="12700">
            <a:solidFill>
              <a:srgbClr val="F2F2F3"/>
            </a:solidFill>
            <a:prstDash val="solid"/>
          </a:ln>
        </p:spPr>
      </p:sp>
      <p:pic>
        <p:nvPicPr>
          <p:cNvPr id="10" name="Image 1" descr="/private/tmp/bw-deck/img/confused-happ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1143000"/>
            <a:ext cx="1152967" cy="1234440"/>
          </a:xfrm>
          <a:prstGeom prst="rect">
            <a:avLst/>
          </a:prstGeom>
        </p:spPr>
      </p:pic>
      <p:pic>
        <p:nvPicPr>
          <p:cNvPr id="11" name="Image 2" descr="/private/tmp/bw-deck/img/worried-happ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143000"/>
            <a:ext cx="1152967" cy="1234440"/>
          </a:xfrm>
          <a:prstGeom prst="rect">
            <a:avLst/>
          </a:prstGeom>
        </p:spPr>
      </p:pic>
      <p:pic>
        <p:nvPicPr>
          <p:cNvPr id="12" name="Image 3" descr="/private/tmp/bw-deck/img/angry-happ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95560" y="1143000"/>
            <a:ext cx="1152967" cy="123444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8001000" y="2606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customer cast</a:t>
            </a:r>
            <a:endParaRPr lang="en-US" sz="1400" dirty="0"/>
          </a:p>
        </p:txBody>
      </p:sp>
      <p:sp>
        <p:nvSpPr>
          <p:cNvPr id="14" name="Text 8"/>
          <p:cNvSpPr/>
          <p:nvPr/>
        </p:nvSpPr>
        <p:spPr>
          <a:xfrm>
            <a:off x="8001000" y="2926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Generated art · prompts kept in repo</a:t>
            </a:r>
            <a:endParaRPr lang="en-US" sz="1100" dirty="0"/>
          </a:p>
        </p:txBody>
      </p:sp>
      <p:sp>
        <p:nvSpPr>
          <p:cNvPr id="15" name="Shape 9"/>
          <p:cNvSpPr/>
          <p:nvPr/>
        </p:nvSpPr>
        <p:spPr>
          <a:xfrm>
            <a:off x="7726680" y="3749040"/>
            <a:ext cx="3776472" cy="192024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ECECEC"/>
            </a:solidFill>
            <a:prstDash val="solid"/>
          </a:ln>
          <a:effectLst>
            <a:outerShdw sx="100000" sy="100000" kx="0" ky="0" algn="bl" rotWithShape="0" blurRad="228600" dist="101600" dir="5400000">
              <a:srgbClr val="000000">
                <a:alpha val="10000"/>
              </a:srgbClr>
            </a:outerShdw>
          </a:effectLst>
        </p:spPr>
      </p:sp>
      <p:pic>
        <p:nvPicPr>
          <p:cNvPr id="16" name="Image 4" descr="/private/tmp/bw-deck/img/acc-end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7818120" y="3840480"/>
            <a:ext cx="3593592" cy="173736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7818120" y="58064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Accountability · results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●  </a:t>
            </a:r>
            <a:pPr indent="0" marL="0">
              <a:buNone/>
            </a:pPr>
            <a:r>
              <a:rPr lang="en-US" sz="1100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BRILiaN Way Arcade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848295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  Demo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77095" y="6355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A6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91440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400" spc="-160" kern="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Let’s </a:t>
            </a:r>
            <a:pPr algn="l" indent="0" marL="0">
              <a:lnSpc>
                <a:spcPct val="105000"/>
              </a:lnSpc>
              <a:buNone/>
            </a:pPr>
            <a:r>
              <a:rPr lang="en-US" sz="6400" i="1" spc="-160" kern="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play</a:t>
            </a:r>
            <a:pPr algn="l" indent="0" marL="0">
              <a:lnSpc>
                <a:spcPct val="105000"/>
              </a:lnSpc>
              <a:buNone/>
            </a:pPr>
            <a:r>
              <a:rPr lang="en-US" sz="6400" spc="-160" kern="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it.</a:t>
            </a:r>
            <a:endParaRPr lang="en-US" sz="6400" dirty="0"/>
          </a:p>
        </p:txBody>
      </p:sp>
      <p:sp>
        <p:nvSpPr>
          <p:cNvPr id="6" name="Shape 4"/>
          <p:cNvSpPr/>
          <p:nvPr/>
        </p:nvSpPr>
        <p:spPr>
          <a:xfrm>
            <a:off x="7955280" y="1280160"/>
            <a:ext cx="1645920" cy="438912"/>
          </a:xfrm>
          <a:prstGeom prst="roundRect">
            <a:avLst>
              <a:gd name="adj" fmla="val 50000"/>
            </a:avLst>
          </a:prstGeom>
          <a:solidFill>
            <a:srgbClr val="17191C"/>
          </a:solidFill>
          <a:ln w="12700">
            <a:solidFill>
              <a:srgbClr val="1719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128016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Start demo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738360" y="1280160"/>
            <a:ext cx="178308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7191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38360" y="1280160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Show the code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2560320"/>
            <a:ext cx="2017715" cy="2651760"/>
          </a:xfrm>
          <a:prstGeom prst="roundRect">
            <a:avLst>
              <a:gd name="adj" fmla="val 9064"/>
            </a:avLst>
          </a:prstGeom>
          <a:solidFill>
            <a:srgbClr val="FFFFFF"/>
          </a:solidFill>
          <a:ln w="9525">
            <a:solidFill>
              <a:srgbClr val="ECECEC"/>
            </a:solidFill>
            <a:prstDash val="solid"/>
          </a:ln>
          <a:effectLst>
            <a:outerShdw sx="100000" sy="100000" kx="0" ky="0" algn="bl" rotWithShape="0" blurRad="228600" dist="1016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0" descr="/private/tmp/bw-deck/img/hom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2651760"/>
            <a:ext cx="1834835" cy="24688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31520" y="5440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097280" y="5376672"/>
            <a:ext cx="15605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Enter name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703515" y="370332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886395" y="2560320"/>
            <a:ext cx="2017715" cy="2651760"/>
          </a:xfrm>
          <a:prstGeom prst="roundRect">
            <a:avLst>
              <a:gd name="adj" fmla="val 9064"/>
            </a:avLst>
          </a:prstGeom>
          <a:solidFill>
            <a:srgbClr val="FFFFFF"/>
          </a:solidFill>
          <a:ln w="9525">
            <a:solidFill>
              <a:srgbClr val="ECECEC"/>
            </a:solidFill>
            <a:prstDash val="solid"/>
          </a:ln>
          <a:effectLst>
            <a:outerShdw sx="100000" sy="100000" kx="0" ky="0" algn="bl" rotWithShape="0" blurRad="228600" dist="101600" dir="5400000">
              <a:srgbClr val="000000">
                <a:alpha val="10000"/>
              </a:srgbClr>
            </a:outerShdw>
          </a:effectLst>
        </p:spPr>
      </p:sp>
      <p:pic>
        <p:nvPicPr>
          <p:cNvPr id="16" name="Image 1" descr="/private/tmp/bw-deck/img/briefing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977835" y="2651760"/>
            <a:ext cx="1834835" cy="24688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932115" y="5440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3297875" y="5376672"/>
            <a:ext cx="15605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Briefing</a:t>
            </a:r>
            <a:endParaRPr lang="en-US" sz="1700" dirty="0"/>
          </a:p>
        </p:txBody>
      </p:sp>
      <p:sp>
        <p:nvSpPr>
          <p:cNvPr id="19" name="Text 15"/>
          <p:cNvSpPr/>
          <p:nvPr/>
        </p:nvSpPr>
        <p:spPr>
          <a:xfrm>
            <a:off x="4904110" y="370332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5086990" y="2560320"/>
            <a:ext cx="2017715" cy="2651760"/>
          </a:xfrm>
          <a:prstGeom prst="roundRect">
            <a:avLst>
              <a:gd name="adj" fmla="val 9064"/>
            </a:avLst>
          </a:prstGeom>
          <a:solidFill>
            <a:srgbClr val="FFFFFF"/>
          </a:solidFill>
          <a:ln w="9525">
            <a:solidFill>
              <a:srgbClr val="ECECEC"/>
            </a:solidFill>
            <a:prstDash val="solid"/>
          </a:ln>
          <a:effectLst>
            <a:outerShdw sx="100000" sy="100000" kx="0" ky="0" algn="bl" rotWithShape="0" blurRad="228600" dist="101600" dir="5400000">
              <a:srgbClr val="000000">
                <a:alpha val="10000"/>
              </a:srgbClr>
            </a:outerShdw>
          </a:effectLst>
        </p:spPr>
      </p:sp>
      <p:pic>
        <p:nvPicPr>
          <p:cNvPr id="21" name="Image 2" descr="/private/tmp/bw-deck/img/integrity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178430" y="2651760"/>
            <a:ext cx="1834835" cy="246888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5132710" y="5440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5498470" y="5376672"/>
            <a:ext cx="15605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Play</a:t>
            </a:r>
            <a:endParaRPr lang="en-US" sz="1700" dirty="0"/>
          </a:p>
        </p:txBody>
      </p:sp>
      <p:sp>
        <p:nvSpPr>
          <p:cNvPr id="24" name="Text 19"/>
          <p:cNvSpPr/>
          <p:nvPr/>
        </p:nvSpPr>
        <p:spPr>
          <a:xfrm>
            <a:off x="7104705" y="370332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1400" dirty="0"/>
          </a:p>
        </p:txBody>
      </p:sp>
      <p:sp>
        <p:nvSpPr>
          <p:cNvPr id="25" name="Shape 20"/>
          <p:cNvSpPr/>
          <p:nvPr/>
        </p:nvSpPr>
        <p:spPr>
          <a:xfrm>
            <a:off x="7287585" y="2560320"/>
            <a:ext cx="2017715" cy="2651760"/>
          </a:xfrm>
          <a:prstGeom prst="roundRect">
            <a:avLst>
              <a:gd name="adj" fmla="val 9064"/>
            </a:avLst>
          </a:prstGeom>
          <a:solidFill>
            <a:srgbClr val="FFFFFF"/>
          </a:solidFill>
          <a:ln w="9525">
            <a:solidFill>
              <a:srgbClr val="ECECEC"/>
            </a:solidFill>
            <a:prstDash val="solid"/>
          </a:ln>
          <a:effectLst>
            <a:outerShdw sx="100000" sy="100000" kx="0" ky="0" algn="bl" rotWithShape="0" blurRad="228600" dist="101600" dir="5400000">
              <a:srgbClr val="000000">
                <a:alpha val="10000"/>
              </a:srgbClr>
            </a:outerShdw>
          </a:effectLst>
        </p:spPr>
      </p:sp>
      <p:pic>
        <p:nvPicPr>
          <p:cNvPr id="26" name="Image 3" descr="/private/tmp/bw-deck/img/acc-end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379025" y="2651760"/>
            <a:ext cx="1834835" cy="246888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333305" y="5440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7699065" y="5376672"/>
            <a:ext cx="15605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</a:t>
            </a:r>
            <a:endParaRPr lang="en-US" sz="1700" dirty="0"/>
          </a:p>
        </p:txBody>
      </p:sp>
      <p:sp>
        <p:nvSpPr>
          <p:cNvPr id="29" name="Text 23"/>
          <p:cNvSpPr/>
          <p:nvPr/>
        </p:nvSpPr>
        <p:spPr>
          <a:xfrm>
            <a:off x="9305300" y="370332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1400" dirty="0"/>
          </a:p>
        </p:txBody>
      </p:sp>
      <p:sp>
        <p:nvSpPr>
          <p:cNvPr id="30" name="Shape 24"/>
          <p:cNvSpPr/>
          <p:nvPr/>
        </p:nvSpPr>
        <p:spPr>
          <a:xfrm>
            <a:off x="9488180" y="2560320"/>
            <a:ext cx="2017715" cy="2651760"/>
          </a:xfrm>
          <a:prstGeom prst="roundRect">
            <a:avLst>
              <a:gd name="adj" fmla="val 9064"/>
            </a:avLst>
          </a:prstGeom>
          <a:solidFill>
            <a:srgbClr val="FFFFFF"/>
          </a:solidFill>
          <a:ln w="9525">
            <a:solidFill>
              <a:srgbClr val="ECECEC"/>
            </a:solidFill>
            <a:prstDash val="solid"/>
          </a:ln>
          <a:effectLst>
            <a:outerShdw sx="100000" sy="100000" kx="0" ky="0" algn="bl" rotWithShape="0" blurRad="228600" dist="101600" dir="5400000">
              <a:srgbClr val="000000">
                <a:alpha val="10000"/>
              </a:srgbClr>
            </a:outerShdw>
          </a:effectLst>
        </p:spPr>
      </p:sp>
      <p:pic>
        <p:nvPicPr>
          <p:cNvPr id="31" name="Image 4" descr="/private/tmp/bw-deck/img/leaderboard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579620" y="2651760"/>
            <a:ext cx="1834835" cy="2468880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9533900" y="5440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</a:t>
            </a:r>
            <a:endParaRPr lang="en-US" sz="1100" dirty="0"/>
          </a:p>
        </p:txBody>
      </p:sp>
      <p:sp>
        <p:nvSpPr>
          <p:cNvPr id="33" name="Text 26"/>
          <p:cNvSpPr/>
          <p:nvPr/>
        </p:nvSpPr>
        <p:spPr>
          <a:xfrm>
            <a:off x="9899660" y="5376672"/>
            <a:ext cx="15605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Leaderboard</a:t>
            </a:r>
            <a:endParaRPr lang="en-US" sz="1700" dirty="0"/>
          </a:p>
        </p:txBody>
      </p:sp>
      <p:sp>
        <p:nvSpPr>
          <p:cNvPr id="34" name="Text 27"/>
          <p:cNvSpPr/>
          <p:nvPr/>
        </p:nvSpPr>
        <p:spPr>
          <a:xfrm>
            <a:off x="68580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777B8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npm ci &amp;&amp; npm run dev  ·  127.0.0.1:5173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●  </a:t>
            </a:r>
            <a:pPr indent="0" marL="0">
              <a:buNone/>
            </a:pPr>
            <a:r>
              <a:rPr lang="en-US" sz="1100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BRILiaN Way Arcade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848295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  Lessons learned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77095" y="6355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A6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14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91440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000" spc="-50" kern="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would </a:t>
            </a:r>
            <a:pPr algn="l" indent="0" marL="0">
              <a:lnSpc>
                <a:spcPct val="105000"/>
              </a:lnSpc>
              <a:buNone/>
            </a:pPr>
            <a:r>
              <a:rPr lang="en-US" sz="4000" i="1" spc="-50" kern="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</a:t>
            </a:r>
            <a:pPr algn="l" indent="0" marL="0">
              <a:lnSpc>
                <a:spcPct val="105000"/>
              </a:lnSpc>
              <a:buNone/>
            </a:pPr>
            <a:r>
              <a:rPr lang="en-US" sz="4000" spc="-50" kern="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and </a:t>
            </a:r>
            <a:pPr algn="l" indent="0" marL="0">
              <a:lnSpc>
                <a:spcPct val="105000"/>
              </a:lnSpc>
              <a:buNone/>
            </a:pPr>
            <a:r>
              <a:rPr lang="en-US" sz="4000" i="1" spc="-50" kern="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change</a:t>
            </a:r>
            <a:endParaRPr lang="en-US" sz="4000" dirty="0"/>
          </a:p>
        </p:txBody>
      </p:sp>
      <p:pic>
        <p:nvPicPr>
          <p:cNvPr id="6" name="Image 0" descr="/private/tmp/bw-deck/img/angry-happ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85800"/>
            <a:ext cx="982157" cy="10515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85800" y="2011680"/>
            <a:ext cx="3454298" cy="1874520"/>
          </a:xfrm>
          <a:prstGeom prst="roundRect">
            <a:avLst>
              <a:gd name="adj" fmla="val 12195"/>
            </a:avLst>
          </a:prstGeom>
          <a:solidFill>
            <a:srgbClr val="F2F2F3"/>
          </a:solidFill>
          <a:ln w="12700">
            <a:solidFill>
              <a:srgbClr val="F2F2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2331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Keep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005840" y="2697480"/>
            <a:ext cx="28142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 the seams first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4368698" y="2011680"/>
            <a:ext cx="3454298" cy="1874520"/>
          </a:xfrm>
          <a:prstGeom prst="roundRect">
            <a:avLst>
              <a:gd name="adj" fmla="val 12195"/>
            </a:avLst>
          </a:prstGeom>
          <a:solidFill>
            <a:srgbClr val="F2F2F3"/>
          </a:solidFill>
          <a:ln w="12700">
            <a:solidFill>
              <a:srgbClr val="F2F2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88738" y="2331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Keep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688738" y="2697480"/>
            <a:ext cx="28142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Small changes, often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8051597" y="2011680"/>
            <a:ext cx="3454298" cy="1874520"/>
          </a:xfrm>
          <a:prstGeom prst="roundRect">
            <a:avLst>
              <a:gd name="adj" fmla="val 12195"/>
            </a:avLst>
          </a:prstGeom>
          <a:solidFill>
            <a:srgbClr val="F2F2F3"/>
          </a:solidFill>
          <a:ln w="12700">
            <a:solidFill>
              <a:srgbClr val="F2F2F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371637" y="2331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Keep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371637" y="2697480"/>
            <a:ext cx="28142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Scope lines for agents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685800" y="4114800"/>
            <a:ext cx="3454298" cy="1874520"/>
          </a:xfrm>
          <a:prstGeom prst="roundRect">
            <a:avLst>
              <a:gd name="adj" fmla="val 12195"/>
            </a:avLst>
          </a:prstGeom>
          <a:solidFill>
            <a:srgbClr val="FAFAFB"/>
          </a:solidFill>
          <a:ln w="12700">
            <a:solidFill>
              <a:srgbClr val="FAFAF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05840" y="4434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Change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05840" y="4800600"/>
            <a:ext cx="28142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Right-size the ceremony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4368698" y="4114800"/>
            <a:ext cx="3454298" cy="1874520"/>
          </a:xfrm>
          <a:prstGeom prst="roundRect">
            <a:avLst>
              <a:gd name="adj" fmla="val 12195"/>
            </a:avLst>
          </a:prstGeom>
          <a:solidFill>
            <a:srgbClr val="FAFAFB"/>
          </a:solidFill>
          <a:ln w="12700">
            <a:solidFill>
              <a:srgbClr val="FAFAF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688738" y="4434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Change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688738" y="4800600"/>
            <a:ext cx="28142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Archive as you go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8051597" y="4114800"/>
            <a:ext cx="3454298" cy="1874520"/>
          </a:xfrm>
          <a:prstGeom prst="roundRect">
            <a:avLst>
              <a:gd name="adj" fmla="val 12195"/>
            </a:avLst>
          </a:prstGeom>
          <a:solidFill>
            <a:srgbClr val="FAFAFB"/>
          </a:solidFill>
          <a:ln w="12700">
            <a:solidFill>
              <a:srgbClr val="FAFAF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371637" y="4434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Change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371637" y="4800600"/>
            <a:ext cx="28142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 decisions back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●  </a:t>
            </a:r>
            <a:pPr indent="0" marL="0">
              <a:buNone/>
            </a:pPr>
            <a:r>
              <a:rPr lang="en-US" sz="1100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BRILiaN Way Arcade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848295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7979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Thank you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77095" y="6355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A6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15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0" y="155448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B8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Questions, ideas, high scores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965960"/>
            <a:ext cx="114601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800" spc="-80" kern="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 it down. </a:t>
            </a:r>
            <a:pPr algn="ctr" indent="0" marL="0">
              <a:lnSpc>
                <a:spcPct val="105000"/>
              </a:lnSpc>
              <a:buNone/>
            </a:pPr>
            <a:r>
              <a:rPr lang="en-US" sz="5800" i="1" spc="-80" kern="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Then</a:t>
            </a:r>
            <a:pPr algn="ctr" indent="0" marL="0">
              <a:lnSpc>
                <a:spcPct val="105000"/>
              </a:lnSpc>
              <a:buNone/>
            </a:pPr>
            <a:r>
              <a:rPr lang="en-US" sz="5800" spc="-80" kern="0" dirty="0">
                <a:solidFill>
                  <a:srgbClr val="171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build it.</a:t>
            </a:r>
            <a:endParaRPr lang="en-US" sz="5800" dirty="0"/>
          </a:p>
        </p:txBody>
      </p:sp>
      <p:sp>
        <p:nvSpPr>
          <p:cNvPr id="7" name="Shape 5"/>
          <p:cNvSpPr/>
          <p:nvPr/>
        </p:nvSpPr>
        <p:spPr>
          <a:xfrm>
            <a:off x="4221328" y="3291840"/>
            <a:ext cx="1828800" cy="438912"/>
          </a:xfrm>
          <a:prstGeom prst="roundRect">
            <a:avLst>
              <a:gd name="adj" fmla="val 50000"/>
            </a:avLst>
          </a:prstGeom>
          <a:solidFill>
            <a:srgbClr val="17191C"/>
          </a:solidFill>
          <a:ln w="12700">
            <a:solidFill>
              <a:srgbClr val="1719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1328" y="32918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Ask a question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41568" y="3291840"/>
            <a:ext cx="182880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7191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41568" y="32918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719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Try the game</a:t>
            </a:r>
            <a:endParaRPr lang="en-US" sz="1300" dirty="0"/>
          </a:p>
        </p:txBody>
      </p:sp>
      <p:pic>
        <p:nvPicPr>
          <p:cNvPr id="11" name="Image 0" descr="/private/tmp/bw-deck/img/confused-happ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4114800"/>
            <a:ext cx="1708099" cy="1828800"/>
          </a:xfrm>
          <a:prstGeom prst="rect">
            <a:avLst/>
          </a:prstGeom>
        </p:spPr>
      </p:pic>
      <p:pic>
        <p:nvPicPr>
          <p:cNvPr id="12" name="Image 1" descr="/private/tmp/bw-deck/img/worried-happ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9512" y="4114800"/>
            <a:ext cx="1708099" cy="1828800"/>
          </a:xfrm>
          <a:prstGeom prst="rect">
            <a:avLst/>
          </a:prstGeom>
        </p:spPr>
      </p:pic>
      <p:pic>
        <p:nvPicPr>
          <p:cNvPr id="13" name="Image 2" descr="/private/tmp/bw-deck/img/angry-happ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8544" y="4114800"/>
            <a:ext cx="1708099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BRILiaN Way Arcade Journey — Spec-Driven Development with GitHub Copilot</dc:title>
  <dc:subject>PptxGenJS Presentation</dc:subject>
  <dc:creator>BRILiaN Way Games Team</dc:creator>
  <cp:lastModifiedBy>BRILiaN Way Games Team</cp:lastModifiedBy>
  <cp:revision>1</cp:revision>
  <dcterms:created xsi:type="dcterms:W3CDTF">2026-10-25T07:50:16Z</dcterms:created>
  <dcterms:modified xsi:type="dcterms:W3CDTF">2026-10-25T07:50:16Z</dcterms:modified>
</cp:coreProperties>
</file>
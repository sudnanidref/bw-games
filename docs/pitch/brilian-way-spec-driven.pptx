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77724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5D2A1A"/>
                </a:solidFill>
                <a:latin typeface="Helvetica Neue"/>
              </a:rPr>
              <a:t>—  </a:t>
            </a:r>
            <a:r>
              <a:rPr sz="1200" b="0" i="0" spc="120">
                <a:solidFill>
                  <a:srgbClr val="5D2A1A"/>
                </a:solidFill>
                <a:latin typeface="Helvetica Neue"/>
              </a:rPr>
              <a:t>SPEC-DRIVEN DEVELOPMENT  ·  GITHUB COPILOT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80160"/>
            <a:ext cx="6309360" cy="2926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4200" b="0" i="0" spc="-100">
                <a:solidFill>
                  <a:srgbClr val="17191C"/>
                </a:solidFill>
                <a:latin typeface="Georgia"/>
              </a:rPr>
              <a:t>Building the </a:t>
            </a:r>
            <a:r>
              <a:rPr sz="4200" b="0" i="1" spc="-100">
                <a:solidFill>
                  <a:srgbClr val="17191C"/>
                </a:solidFill>
                <a:latin typeface="Georgia"/>
              </a:rPr>
              <a:t>BRILiaN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4200" b="0" i="1" spc="-100">
                <a:solidFill>
                  <a:srgbClr val="17191C"/>
                </a:solidFill>
                <a:latin typeface="Georgia"/>
              </a:rPr>
              <a:t>Way</a:t>
            </a:r>
            <a:r>
              <a:rPr sz="4200" b="0" i="0" spc="-100">
                <a:solidFill>
                  <a:srgbClr val="17191C"/>
                </a:solidFill>
                <a:latin typeface="Georgia"/>
              </a:rPr>
              <a:t> as playable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4200" b="0" i="1" spc="-100">
                <a:solidFill>
                  <a:srgbClr val="17191C"/>
                </a:solidFill>
                <a:latin typeface="Georgia"/>
              </a:rPr>
              <a:t>minigames.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977639"/>
            <a:ext cx="5852160" cy="11887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0" i="0">
                <a:solidFill>
                  <a:srgbClr val="777B86"/>
                </a:solidFill>
                <a:latin typeface="Helvetica Neue"/>
              </a:rPr>
              <a:t>How our team turned five culture values into an arcade journey — specified first, generated with Copilot, shipped game by game.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5257800"/>
            <a:ext cx="2057400" cy="475488"/>
          </a:xfrm>
          <a:prstGeom prst="roundRect">
            <a:avLst>
              <a:gd name="adj" fmla="val 50000"/>
            </a:avLst>
          </a:prstGeom>
          <a:solidFill>
            <a:srgbClr val="171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300" b="0">
                <a:solidFill>
                  <a:srgbClr val="FFFFFF"/>
                </a:solidFill>
                <a:latin typeface="Helvetica Neue"/>
              </a:rPr>
              <a:t>A spec-first story  →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017520" y="5257800"/>
            <a:ext cx="1737360" cy="475488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171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300" b="0">
                <a:solidFill>
                  <a:srgbClr val="17191C"/>
                </a:solidFill>
                <a:latin typeface="Helvetica Neue"/>
              </a:rPr>
              <a:t>See the demo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40880" y="1051560"/>
            <a:ext cx="4754880" cy="3063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28016" dist="82296" dir="5400000" rotWithShape="0">
              <a:srgbClr val="000000">
                <a:alpha val="8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hub-welc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1097280"/>
            <a:ext cx="4754880" cy="29718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720840" y="3977639"/>
            <a:ext cx="2148840" cy="123444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  <a:effectLst>
            <a:outerShdw blurRad="128016" dist="82296" dir="5400000" rotWithShape="0">
              <a:srgbClr val="000000">
                <a:alpha val="8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9440" y="4114800"/>
            <a:ext cx="1828800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2600" b="1" i="0">
                <a:solidFill>
                  <a:srgbClr val="17191C"/>
                </a:solidFill>
                <a:latin typeface="Helvetica Neue"/>
              </a:rPr>
              <a:t>5</a:t>
            </a:r>
            <a:r>
              <a:rPr sz="1300" b="0" i="0">
                <a:solidFill>
                  <a:srgbClr val="777B86"/>
                </a:solidFill>
                <a:latin typeface="Helvetica Neue"/>
              </a:rPr>
              <a:t>  minigames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777B86"/>
                </a:solidFill>
                <a:latin typeface="Helvetica Neue"/>
              </a:rPr>
              <a:t>one fixed journey, one score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0" y="4160520"/>
            <a:ext cx="2651760" cy="1234440"/>
          </a:xfrm>
          <a:prstGeom prst="roundRect">
            <a:avLst>
              <a:gd name="adj" fmla="val 14000"/>
            </a:avLst>
          </a:prstGeom>
          <a:solidFill>
            <a:srgbClr val="FBE1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72600" y="4315968"/>
            <a:ext cx="2240280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 i="0">
                <a:solidFill>
                  <a:srgbClr val="5D2A1A"/>
                </a:solidFill>
                <a:latin typeface="Helvetica Neue"/>
              </a:rPr>
              <a:t>Integrity → Collaborative →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 i="0">
                <a:solidFill>
                  <a:srgbClr val="5D2A1A"/>
                </a:solidFill>
                <a:latin typeface="Helvetica Neue"/>
              </a:rPr>
              <a:t>Accountability → Growth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 i="0">
                <a:solidFill>
                  <a:srgbClr val="5D2A1A"/>
                </a:solidFill>
                <a:latin typeface="Helvetica Neue"/>
              </a:rPr>
              <a:t>Mindset → Customer Focus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 spc="100">
                <a:solidFill>
                  <a:srgbClr val="979799"/>
                </a:solidFill>
                <a:latin typeface="Helvetica Neue"/>
              </a:rPr>
              <a:t>BRILiaN WAY  /  Pitch deck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0" y="641908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 spc="100">
                <a:solidFill>
                  <a:srgbClr val="979799"/>
                </a:solidFill>
                <a:latin typeface="Helvetica Neue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8580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5D2A1A"/>
                </a:solidFill>
                <a:latin typeface="Helvetica Neue"/>
              </a:rPr>
              <a:t>—  </a:t>
            </a:r>
            <a:r>
              <a:rPr sz="1200" b="0" i="0" spc="120">
                <a:solidFill>
                  <a:srgbClr val="5D2A1A"/>
                </a:solidFill>
                <a:latin typeface="Helvetica Neue"/>
              </a:rPr>
              <a:t>IDEATION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051560"/>
            <a:ext cx="7315200" cy="12801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0" i="0" spc="-90">
                <a:solidFill>
                  <a:srgbClr val="17191C"/>
                </a:solidFill>
                <a:latin typeface="Georgia"/>
              </a:rPr>
              <a:t>One idea, </a:t>
            </a:r>
            <a:r>
              <a:rPr sz="4000" b="0" i="1" spc="-90">
                <a:solidFill>
                  <a:srgbClr val="17191C"/>
                </a:solidFill>
                <a:latin typeface="Georgia"/>
              </a:rPr>
              <a:t>two bets.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65960"/>
            <a:ext cx="557784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777B86"/>
                </a:solidFill>
                <a:latin typeface="Helvetica Neue"/>
              </a:rPr>
              <a:t>We wanted to try spec-driven development with GitHub Copilot — and we needed a project worth specifying. The BRILiaN Way, reimagined as minigames, became both.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063240"/>
            <a:ext cx="3456432" cy="2834640"/>
          </a:xfrm>
          <a:prstGeom prst="roundRect">
            <a:avLst>
              <a:gd name="adj" fmla="val 9000"/>
            </a:avLst>
          </a:prstGeom>
          <a:solidFill>
            <a:srgbClr val="F2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333756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 spc="80">
                <a:solidFill>
                  <a:srgbClr val="979799"/>
                </a:solidFill>
                <a:latin typeface="Helvetica Neue"/>
              </a:rPr>
              <a:t>THE METHOD BET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3657600"/>
            <a:ext cx="283464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17191C"/>
                </a:solidFill>
                <a:latin typeface="Helvetica Neue"/>
              </a:rPr>
              <a:t>Spec-driven development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4343400"/>
            <a:ext cx="2834640" cy="1371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7191C"/>
                </a:solidFill>
                <a:latin typeface="Helvetica Neue"/>
              </a:rPr>
              <a:t>Write the spec before the code. Let Copilot generate against a precise, reviewed contract instead of vague prompts.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98848" y="3063240"/>
            <a:ext cx="3456432" cy="2834640"/>
          </a:xfrm>
          <a:prstGeom prst="roundRect">
            <a:avLst>
              <a:gd name="adj" fmla="val 9000"/>
            </a:avLst>
          </a:prstGeom>
          <a:solidFill>
            <a:srgbClr val="F2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18888" y="333756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 spc="80">
                <a:solidFill>
                  <a:srgbClr val="979799"/>
                </a:solidFill>
                <a:latin typeface="Helvetica Neue"/>
              </a:rPr>
              <a:t>THE PRODUCT BET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18888" y="3657600"/>
            <a:ext cx="283464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17191C"/>
                </a:solidFill>
                <a:latin typeface="Helvetica Neue"/>
              </a:rPr>
              <a:t>BRILiaN Way as an arcade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18888" y="4343400"/>
            <a:ext cx="2834640" cy="1371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7191C"/>
                </a:solidFill>
                <a:latin typeface="Helvetica Neue"/>
              </a:rPr>
              <a:t>Turn five culture values into a desktop arcade journey players move through in a fixed order, earning one score.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74736" y="3063240"/>
            <a:ext cx="3456432" cy="2834640"/>
          </a:xfrm>
          <a:prstGeom prst="roundRect">
            <a:avLst>
              <a:gd name="adj" fmla="val 9000"/>
            </a:avLst>
          </a:prstGeom>
          <a:solidFill>
            <a:srgbClr val="F2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94776" y="333756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 spc="80">
                <a:solidFill>
                  <a:srgbClr val="979799"/>
                </a:solidFill>
                <a:latin typeface="Helvetica Neue"/>
              </a:rPr>
              <a:t>WHY IT FITS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94776" y="3657600"/>
            <a:ext cx="283464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17191C"/>
                </a:solidFill>
                <a:latin typeface="Helvetica Neue"/>
              </a:rPr>
              <a:t>Many games, one contract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94776" y="4343400"/>
            <a:ext cx="2834640" cy="1371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7191C"/>
                </a:solidFill>
                <a:latin typeface="Helvetica Neue"/>
              </a:rPr>
              <a:t>Each value is a self-contained game. A shared contract lets five people build in parallel without stepping on each other.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 spc="100">
                <a:solidFill>
                  <a:srgbClr val="979799"/>
                </a:solidFill>
                <a:latin typeface="Helvetica Neue"/>
              </a:rPr>
              <a:t>BRILiaN WAY  /  Ideation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0" y="641908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 spc="100">
                <a:solidFill>
                  <a:srgbClr val="979799"/>
                </a:solidFill>
                <a:latin typeface="Helvetica Neue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8580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5D2A1A"/>
                </a:solidFill>
                <a:latin typeface="Helvetica Neue"/>
              </a:rPr>
              <a:t>—  </a:t>
            </a:r>
            <a:r>
              <a:rPr sz="1200" b="0" i="0" spc="120">
                <a:solidFill>
                  <a:srgbClr val="5D2A1A"/>
                </a:solidFill>
                <a:latin typeface="Helvetica Neue"/>
              </a:rPr>
              <a:t>IDEATION  ·  THE JOURNEY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024128"/>
            <a:ext cx="5669280" cy="1737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0" i="0" spc="-70">
                <a:solidFill>
                  <a:srgbClr val="17191C"/>
                </a:solidFill>
                <a:latin typeface="Georgia"/>
              </a:rPr>
              <a:t>Five values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0" i="0" spc="-70">
                <a:solidFill>
                  <a:srgbClr val="17191C"/>
                </a:solidFill>
                <a:latin typeface="Georgia"/>
              </a:rPr>
              <a:t>become </a:t>
            </a:r>
            <a:r>
              <a:rPr sz="3000" b="0" i="1" spc="-70">
                <a:solidFill>
                  <a:srgbClr val="17191C"/>
                </a:solidFill>
                <a:latin typeface="Georgia"/>
              </a:rPr>
              <a:t>five stages.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720840" y="914400"/>
            <a:ext cx="5074920" cy="5120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28016" dist="82296" dir="5400000" rotWithShape="0">
              <a:srgbClr val="000000">
                <a:alpha val="8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tage-brief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1888807"/>
            <a:ext cx="5074920" cy="3171824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22960" y="2286000"/>
            <a:ext cx="5486400" cy="658368"/>
          </a:xfrm>
          <a:prstGeom prst="roundRect">
            <a:avLst>
              <a:gd name="adj" fmla="val 22000"/>
            </a:avLst>
          </a:prstGeom>
          <a:solidFill>
            <a:srgbClr val="F2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404872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 i="1">
                <a:solidFill>
                  <a:srgbClr val="5D2A1A"/>
                </a:solidFill>
                <a:latin typeface="Georgia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2359152"/>
            <a:ext cx="1920240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17191C"/>
                </a:solidFill>
                <a:latin typeface="Helvetica Neue"/>
              </a:rPr>
              <a:t>Integrity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11880" y="2359152"/>
            <a:ext cx="2651760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777B86"/>
                </a:solidFill>
                <a:latin typeface="Helvetica Neue"/>
              </a:rPr>
              <a:t>Teguh pada aturan, sadar risiko, jujur.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035808"/>
            <a:ext cx="5486400" cy="658368"/>
          </a:xfrm>
          <a:prstGeom prst="roundRect">
            <a:avLst>
              <a:gd name="adj" fmla="val 22000"/>
            </a:avLst>
          </a:prstGeom>
          <a:solidFill>
            <a:srgbClr val="F2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3154679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 i="1">
                <a:solidFill>
                  <a:srgbClr val="5D2A1A"/>
                </a:solidFill>
                <a:latin typeface="Georgia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83080" y="3108960"/>
            <a:ext cx="1920240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17191C"/>
                </a:solidFill>
                <a:latin typeface="Helvetica Neue"/>
              </a:rPr>
              <a:t>Collaborative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3108960"/>
            <a:ext cx="2651760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777B86"/>
                </a:solidFill>
                <a:latin typeface="Helvetica Neue"/>
              </a:rPr>
              <a:t>Bekerja bersama, saling menguatkan.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785615"/>
            <a:ext cx="5486400" cy="658368"/>
          </a:xfrm>
          <a:prstGeom prst="roundRect">
            <a:avLst>
              <a:gd name="adj" fmla="val 22000"/>
            </a:avLst>
          </a:prstGeom>
          <a:solidFill>
            <a:srgbClr val="F2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3904487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 i="1">
                <a:solidFill>
                  <a:srgbClr val="5D2A1A"/>
                </a:solidFill>
                <a:latin typeface="Georgia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83080" y="3858768"/>
            <a:ext cx="1920240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17191C"/>
                </a:solidFill>
                <a:latin typeface="Helvetica Neue"/>
              </a:rPr>
              <a:t>Accountability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11880" y="3858768"/>
            <a:ext cx="2651760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777B86"/>
                </a:solidFill>
                <a:latin typeface="Helvetica Neue"/>
              </a:rPr>
              <a:t>Memiliki tanggung jawab, menuntaskan.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4535424"/>
            <a:ext cx="5486400" cy="658368"/>
          </a:xfrm>
          <a:prstGeom prst="roundRect">
            <a:avLst>
              <a:gd name="adj" fmla="val 22000"/>
            </a:avLst>
          </a:prstGeom>
          <a:solidFill>
            <a:srgbClr val="F2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4654296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 i="1">
                <a:solidFill>
                  <a:srgbClr val="5D2A1A"/>
                </a:solidFill>
                <a:latin typeface="Georgia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83080" y="4608576"/>
            <a:ext cx="1920240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17191C"/>
                </a:solidFill>
                <a:latin typeface="Helvetica Neue"/>
              </a:rPr>
              <a:t>Growth Mindset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11880" y="4608576"/>
            <a:ext cx="2651760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777B86"/>
                </a:solidFill>
                <a:latin typeface="Helvetica Neue"/>
              </a:rPr>
              <a:t>Terus belajar, beradaptasi, bertumbuh.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5285232"/>
            <a:ext cx="5486400" cy="658368"/>
          </a:xfrm>
          <a:prstGeom prst="roundRect">
            <a:avLst>
              <a:gd name="adj" fmla="val 22000"/>
            </a:avLst>
          </a:prstGeom>
          <a:solidFill>
            <a:srgbClr val="F2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51560" y="5404104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 i="1">
                <a:solidFill>
                  <a:srgbClr val="5D2A1A"/>
                </a:solidFill>
                <a:latin typeface="Georgia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83080" y="5358384"/>
            <a:ext cx="1920240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17191C"/>
                </a:solidFill>
                <a:latin typeface="Helvetica Neue"/>
              </a:rPr>
              <a:t>Customer Focus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11880" y="5358384"/>
            <a:ext cx="2651760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777B86"/>
                </a:solidFill>
                <a:latin typeface="Helvetica Neue"/>
              </a:rPr>
              <a:t>Melayani cepat, tepat, bernilai tambah.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 spc="100">
                <a:solidFill>
                  <a:srgbClr val="979799"/>
                </a:solidFill>
                <a:latin typeface="Helvetica Neue"/>
              </a:rPr>
              <a:t>BRILiaN WAY  /  Ideation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7040" y="641908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 spc="100">
                <a:solidFill>
                  <a:srgbClr val="979799"/>
                </a:solidFill>
                <a:latin typeface="Helvetica Neue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5D2A1A"/>
                </a:solidFill>
                <a:latin typeface="Helvetica Neue"/>
              </a:rPr>
              <a:t>—  </a:t>
            </a:r>
            <a:r>
              <a:rPr sz="1200" b="0" i="0" spc="120">
                <a:solidFill>
                  <a:srgbClr val="5D2A1A"/>
                </a:solidFill>
                <a:latin typeface="Helvetica Neue"/>
              </a:rPr>
              <a:t>PROCESS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60120"/>
            <a:ext cx="8229600" cy="11887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800" b="0" i="0" spc="-90">
                <a:solidFill>
                  <a:srgbClr val="17191C"/>
                </a:solidFill>
                <a:latin typeface="Georgia"/>
              </a:rPr>
              <a:t>How we build </a:t>
            </a:r>
            <a:r>
              <a:rPr sz="3800" b="0" i="1" spc="-90">
                <a:solidFill>
                  <a:srgbClr val="17191C"/>
                </a:solidFill>
                <a:latin typeface="Georgia"/>
              </a:rPr>
              <a:t>each game.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74519"/>
            <a:ext cx="6583680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777B86"/>
                </a:solidFill>
                <a:latin typeface="Helvetica Neue"/>
              </a:rPr>
              <a:t>Every game is one OpenSpec change. The spec is written and reviewed first; Copilot and subagents implement against it; tests and the shared contract guard the merge.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880360"/>
            <a:ext cx="2615184" cy="3017520"/>
          </a:xfrm>
          <a:prstGeom prst="roundRect">
            <a:avLst>
              <a:gd name="adj" fmla="val 10000"/>
            </a:avLst>
          </a:prstGeom>
          <a:solidFill>
            <a:srgbClr val="F2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3127248"/>
            <a:ext cx="137160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0" i="1">
                <a:solidFill>
                  <a:srgbClr val="5D2A1A"/>
                </a:solidFill>
                <a:latin typeface="Georgia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 spc="50">
                <a:solidFill>
                  <a:srgbClr val="17191C"/>
                </a:solidFill>
                <a:latin typeface="Helvetica Neue"/>
              </a:rPr>
              <a:t>PROPOSE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023360"/>
            <a:ext cx="210312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1">
                <a:solidFill>
                  <a:srgbClr val="979799"/>
                </a:solidFill>
                <a:latin typeface="Helvetica Neue"/>
              </a:rPr>
              <a:t>proposal.md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434840"/>
            <a:ext cx="2148840" cy="1371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17191C"/>
                </a:solidFill>
                <a:latin typeface="Helvetica Neue"/>
              </a:rPr>
              <a:t>Each game starts as an OpenSpec change: why, what changes, capabilities, impact — one change per value.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93591" y="2880360"/>
            <a:ext cx="2615184" cy="3017520"/>
          </a:xfrm>
          <a:prstGeom prst="roundRect">
            <a:avLst>
              <a:gd name="adj" fmla="val 10000"/>
            </a:avLst>
          </a:prstGeom>
          <a:solidFill>
            <a:srgbClr val="F2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67911" y="3127248"/>
            <a:ext cx="137160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0" i="1">
                <a:solidFill>
                  <a:srgbClr val="5D2A1A"/>
                </a:solidFill>
                <a:latin typeface="Georgia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67911" y="3657600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 spc="50">
                <a:solidFill>
                  <a:srgbClr val="17191C"/>
                </a:solidFill>
                <a:latin typeface="Helvetica Neue"/>
              </a:rPr>
              <a:t>SPECIFY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67911" y="4023360"/>
            <a:ext cx="210312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1">
                <a:solidFill>
                  <a:srgbClr val="979799"/>
                </a:solidFill>
                <a:latin typeface="Helvetica Neue"/>
              </a:rPr>
              <a:t>design.md · specs/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67911" y="4434840"/>
            <a:ext cx="2148840" cy="1371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17191C"/>
                </a:solidFill>
                <a:latin typeface="Helvetica Neue"/>
              </a:rPr>
              <a:t>Mechanic, controls, timing, a verifiable 0–100 scoring rubric, and asset provenance written before any code.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64223" y="2880360"/>
            <a:ext cx="2615184" cy="3017520"/>
          </a:xfrm>
          <a:prstGeom prst="roundRect">
            <a:avLst>
              <a:gd name="adj" fmla="val 10000"/>
            </a:avLst>
          </a:prstGeom>
          <a:solidFill>
            <a:srgbClr val="F2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38543" y="3127248"/>
            <a:ext cx="137160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0" i="1">
                <a:solidFill>
                  <a:srgbClr val="5D2A1A"/>
                </a:solidFill>
                <a:latin typeface="Georgia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38543" y="3657600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 spc="50">
                <a:solidFill>
                  <a:srgbClr val="17191C"/>
                </a:solidFill>
                <a:latin typeface="Helvetica Neue"/>
              </a:rPr>
              <a:t>IMPLEMENT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38543" y="4023360"/>
            <a:ext cx="210312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1">
                <a:solidFill>
                  <a:srgbClr val="979799"/>
                </a:solidFill>
                <a:latin typeface="Helvetica Neue"/>
              </a:rPr>
              <a:t>Copilot + subagents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38543" y="4434840"/>
            <a:ext cx="2148840" cy="1371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17191C"/>
                </a:solidFill>
                <a:latin typeface="Helvetica Neue"/>
              </a:rPr>
              <a:t>Opsx skills (propose / apply / archive) and the OpenSpec agent generate against the spec and tasks.md checklist.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34855" y="2880360"/>
            <a:ext cx="2615184" cy="3017520"/>
          </a:xfrm>
          <a:prstGeom prst="roundRect">
            <a:avLst>
              <a:gd name="adj" fmla="val 10000"/>
            </a:avLst>
          </a:prstGeom>
          <a:solidFill>
            <a:srgbClr val="F2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09176" y="3127248"/>
            <a:ext cx="137160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0" i="1">
                <a:solidFill>
                  <a:srgbClr val="5D2A1A"/>
                </a:solidFill>
                <a:latin typeface="Georgia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09176" y="3657600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 spc="50">
                <a:solidFill>
                  <a:srgbClr val="17191C"/>
                </a:solidFill>
                <a:latin typeface="Helvetica Neue"/>
              </a:rPr>
              <a:t>APPLY &amp; ARCHIVE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09176" y="4023360"/>
            <a:ext cx="210312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1">
                <a:solidFill>
                  <a:srgbClr val="979799"/>
                </a:solidFill>
                <a:latin typeface="Helvetica Neue"/>
              </a:rPr>
              <a:t>tasks.md · tests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09176" y="4434840"/>
            <a:ext cx="2148840" cy="1371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17191C"/>
                </a:solidFill>
                <a:latin typeface="Helvetica Neue"/>
              </a:rPr>
              <a:t>typecheck + vitest + build must pass; the PlayableGame contract is wired; the change is archived when done.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 spc="100">
                <a:solidFill>
                  <a:srgbClr val="979799"/>
                </a:solidFill>
                <a:latin typeface="Helvetica Neue"/>
              </a:rPr>
              <a:t>BRILiaN WAY  /  Process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07040" y="641908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 spc="100">
                <a:solidFill>
                  <a:srgbClr val="979799"/>
                </a:solidFill>
                <a:latin typeface="Helvetica Neue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8580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5D2A1A"/>
                </a:solidFill>
                <a:latin typeface="Helvetica Neue"/>
              </a:rPr>
              <a:t>—  </a:t>
            </a:r>
            <a:r>
              <a:rPr sz="1200" b="0" i="0" spc="120">
                <a:solidFill>
                  <a:srgbClr val="5D2A1A"/>
                </a:solidFill>
                <a:latin typeface="Helvetica Neue"/>
              </a:rPr>
              <a:t>PROCESS  ·  THE CONTRACT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051560"/>
            <a:ext cx="7315200" cy="11887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600" b="0" i="0" spc="-80">
                <a:solidFill>
                  <a:srgbClr val="17191C"/>
                </a:solidFill>
                <a:latin typeface="Georgia"/>
              </a:rPr>
              <a:t>Five developers, </a:t>
            </a:r>
            <a:r>
              <a:rPr sz="3600" b="0" i="1" spc="-80">
                <a:solidFill>
                  <a:srgbClr val="17191C"/>
                </a:solidFill>
                <a:latin typeface="Georgia"/>
              </a:rPr>
              <a:t>one seam.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5212080" cy="1463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777B86"/>
                </a:solidFill>
                <a:latin typeface="Helvetica Neue"/>
              </a:rPr>
              <a:t>Each owner touches only their directory under src/games/ and exports a PlayableGame component. The shell mounts it on the current stage and listens on three callbacks — nobody writes another game's result or the leaderboard directly.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749039"/>
            <a:ext cx="5212080" cy="676656"/>
          </a:xfrm>
          <a:prstGeom prst="roundRect">
            <a:avLst>
              <a:gd name="adj" fmla="val 20000"/>
            </a:avLst>
          </a:prstGeom>
          <a:solidFill>
            <a:srgbClr val="F2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3849624"/>
            <a:ext cx="3200400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17191C"/>
                </a:solidFill>
                <a:latin typeface="Courier New"/>
              </a:rPr>
              <a:t>onComplete({ valueId, score })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66160" y="3849624"/>
            <a:ext cx="2377440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777B86"/>
                </a:solidFill>
                <a:latin typeface="Helvetica Neue"/>
              </a:rPr>
              <a:t>once, integer 0–100, on a real finish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4517136"/>
            <a:ext cx="5212080" cy="676656"/>
          </a:xfrm>
          <a:prstGeom prst="roundRect">
            <a:avLst>
              <a:gd name="adj" fmla="val 20000"/>
            </a:avLst>
          </a:prstGeom>
          <a:solidFill>
            <a:srgbClr val="F2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4617720"/>
            <a:ext cx="3200400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17191C"/>
                </a:solidFill>
                <a:latin typeface="Courier New"/>
              </a:rPr>
              <a:t>onCancel()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4617720"/>
            <a:ext cx="2377440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777B86"/>
                </a:solidFill>
                <a:latin typeface="Helvetica Neue"/>
              </a:rPr>
              <a:t>player left early — no points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5285231"/>
            <a:ext cx="5212080" cy="676656"/>
          </a:xfrm>
          <a:prstGeom prst="roundRect">
            <a:avLst>
              <a:gd name="adj" fmla="val 20000"/>
            </a:avLst>
          </a:prstGeom>
          <a:solidFill>
            <a:srgbClr val="F2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5385816"/>
            <a:ext cx="3200400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17191C"/>
                </a:solidFill>
                <a:latin typeface="Courier New"/>
              </a:rPr>
              <a:t>onError(error)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5385816"/>
            <a:ext cx="2377440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777B86"/>
                </a:solidFill>
                <a:latin typeface="Helvetica Neue"/>
              </a:rPr>
              <a:t>failure — no points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92240" y="2103120"/>
            <a:ext cx="5029200" cy="3657600"/>
          </a:xfrm>
          <a:prstGeom prst="roundRect">
            <a:avLst>
              <a:gd name="adj" fmla="val 8000"/>
            </a:avLst>
          </a:prstGeom>
          <a:solidFill>
            <a:srgbClr val="FBE1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03720" y="246888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 spc="100">
                <a:solidFill>
                  <a:srgbClr val="5D2A1A"/>
                </a:solidFill>
                <a:latin typeface="Helvetica Neue"/>
              </a:rPr>
              <a:t>WHY A CONTRACT FIRST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2880360"/>
            <a:ext cx="4297680" cy="2011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5D2A1A"/>
                </a:solidFill>
                <a:latin typeface="Helvetica Neue"/>
              </a:rPr>
              <a:t>“The spec and the PlayableGame contract were the real product. Once the seam was fixed, five of us could generate games with Copilot in parallel — and still drop them into one journey that just worked.”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03720" y="525780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1">
                <a:solidFill>
                  <a:srgbClr val="5D2A1A"/>
                </a:solidFill>
                <a:latin typeface="Helvetica Neue"/>
              </a:rPr>
              <a:t>— BRILiaN Way build team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 spc="100">
                <a:solidFill>
                  <a:srgbClr val="979799"/>
                </a:solidFill>
                <a:latin typeface="Helvetica Neue"/>
              </a:rPr>
              <a:t>BRILiaN WAY  /  Process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7040" y="641908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 spc="100">
                <a:solidFill>
                  <a:srgbClr val="979799"/>
                </a:solidFill>
                <a:latin typeface="Helvetica Neue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5D2A1A"/>
                </a:solidFill>
                <a:latin typeface="Helvetica Neue"/>
              </a:rPr>
              <a:t>—  </a:t>
            </a:r>
            <a:r>
              <a:rPr sz="1200" b="0" i="0" spc="120">
                <a:solidFill>
                  <a:srgbClr val="5D2A1A"/>
                </a:solidFill>
                <a:latin typeface="Helvetica Neue"/>
              </a:rPr>
              <a:t>STRUGGLE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60120"/>
            <a:ext cx="9144000" cy="11887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600" b="0" i="0" spc="-80">
                <a:solidFill>
                  <a:srgbClr val="17191C"/>
                </a:solidFill>
                <a:latin typeface="Georgia"/>
              </a:rPr>
              <a:t>When spec-driven </a:t>
            </a:r>
            <a:r>
              <a:rPr sz="3600" b="0" i="1" spc="-80">
                <a:solidFill>
                  <a:srgbClr val="17191C"/>
                </a:solidFill>
                <a:latin typeface="Georgia"/>
              </a:rPr>
              <a:t>helped — and hurt.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74519"/>
            <a:ext cx="731520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777B86"/>
                </a:solidFill>
                <a:latin typeface="Helvetica Neue"/>
              </a:rPr>
              <a:t>The method paid off most where the problem was clear, and slowed us down where the game was still being discovered.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743200"/>
            <a:ext cx="5285232" cy="3200400"/>
          </a:xfrm>
          <a:prstGeom prst="roundRect">
            <a:avLst>
              <a:gd name="adj" fmla="val 9000"/>
            </a:avLst>
          </a:prstGeom>
          <a:solidFill>
            <a:srgbClr val="F2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97180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 spc="100">
                <a:solidFill>
                  <a:srgbClr val="5D2A1A"/>
                </a:solidFill>
                <a:latin typeface="Helvetica Neue"/>
              </a:rPr>
              <a:t>WHERE IT WAS GOOD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401568"/>
            <a:ext cx="480060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7191C"/>
                </a:solidFill>
                <a:latin typeface="Helvetica Neue"/>
              </a:rPr>
              <a:t>•  </a:t>
            </a:r>
            <a:r>
              <a:rPr sz="1250" b="0" i="0">
                <a:solidFill>
                  <a:srgbClr val="17191C"/>
                </a:solidFill>
                <a:latin typeface="Helvetica Neue"/>
              </a:rPr>
              <a:t>Clear scoring rubrics (0–100) became tests Copilot could target.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023360"/>
            <a:ext cx="480060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7191C"/>
                </a:solidFill>
                <a:latin typeface="Helvetica Neue"/>
              </a:rPr>
              <a:t>•  </a:t>
            </a:r>
            <a:r>
              <a:rPr sz="1250" b="0" i="0">
                <a:solidFill>
                  <a:srgbClr val="17191C"/>
                </a:solidFill>
                <a:latin typeface="Helvetica Neue"/>
              </a:rPr>
              <a:t>Parallel work: five games, one contract, few merge conflicts.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645152"/>
            <a:ext cx="480060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7191C"/>
                </a:solidFill>
                <a:latin typeface="Helvetica Neue"/>
              </a:rPr>
              <a:t>•  </a:t>
            </a:r>
            <a:r>
              <a:rPr sz="1250" b="0" i="0">
                <a:solidFill>
                  <a:srgbClr val="17191C"/>
                </a:solidFill>
                <a:latin typeface="Helvetica Neue"/>
              </a:rPr>
              <a:t>Reviews happened on the spec, not after 500 lines of generated code.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5266944"/>
            <a:ext cx="480060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7191C"/>
                </a:solidFill>
                <a:latin typeface="Helvetica Neue"/>
              </a:rPr>
              <a:t>•  </a:t>
            </a:r>
            <a:r>
              <a:rPr sz="1250" b="0" i="0">
                <a:solidFill>
                  <a:srgbClr val="17191C"/>
                </a:solidFill>
                <a:latin typeface="Helvetica Neue"/>
              </a:rPr>
              <a:t>Archived changes gave each game an auditable paper trail.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2743200"/>
            <a:ext cx="5166360" cy="3200400"/>
          </a:xfrm>
          <a:prstGeom prst="roundRect">
            <a:avLst>
              <a:gd name="adj" fmla="val 9000"/>
            </a:avLst>
          </a:prstGeom>
          <a:solidFill>
            <a:srgbClr val="F2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297180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 spc="100">
                <a:solidFill>
                  <a:srgbClr val="5D2A1A"/>
                </a:solidFill>
                <a:latin typeface="Helvetica Neue"/>
              </a:rPr>
              <a:t>WHERE IT HURT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3401568"/>
            <a:ext cx="452628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7191C"/>
                </a:solidFill>
                <a:latin typeface="Helvetica Neue"/>
              </a:rPr>
              <a:t>•  </a:t>
            </a:r>
            <a:r>
              <a:rPr sz="1250" b="0" i="0">
                <a:solidFill>
                  <a:srgbClr val="17191C"/>
                </a:solidFill>
                <a:latin typeface="Helvetica Neue"/>
              </a:rPr>
              <a:t>Fun is hard to specify — arcade feel needed play, not prose.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4023360"/>
            <a:ext cx="452628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7191C"/>
                </a:solidFill>
                <a:latin typeface="Helvetica Neue"/>
              </a:rPr>
              <a:t>•  </a:t>
            </a:r>
            <a:r>
              <a:rPr sz="1250" b="0" i="0">
                <a:solidFill>
                  <a:srgbClr val="17191C"/>
                </a:solidFill>
                <a:latin typeface="Helvetica Neue"/>
              </a:rPr>
              <a:t>Early specs churned: Customer Focus was re-specced into an arcade.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4645152"/>
            <a:ext cx="452628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7191C"/>
                </a:solidFill>
                <a:latin typeface="Helvetica Neue"/>
              </a:rPr>
              <a:t>•  </a:t>
            </a:r>
            <a:r>
              <a:rPr sz="1250" b="0" i="0">
                <a:solidFill>
                  <a:srgbClr val="17191C"/>
                </a:solidFill>
                <a:latin typeface="Helvetica Neue"/>
              </a:rPr>
              <a:t>Over-specifying tiny games cost more than just building them.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5266944"/>
            <a:ext cx="452628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7191C"/>
                </a:solidFill>
                <a:latin typeface="Helvetica Neue"/>
              </a:rPr>
              <a:t>•  </a:t>
            </a:r>
            <a:r>
              <a:rPr sz="1250" b="0" i="0">
                <a:solidFill>
                  <a:srgbClr val="17191C"/>
                </a:solidFill>
                <a:latin typeface="Helvetica Neue"/>
              </a:rPr>
              <a:t>Shared-file edits (the registry) still needed human coordination.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 spc="100">
                <a:solidFill>
                  <a:srgbClr val="979799"/>
                </a:solidFill>
                <a:latin typeface="Helvetica Neue"/>
              </a:rPr>
              <a:t>BRILiaN WAY  /  Struggle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0" y="641908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 spc="100">
                <a:solidFill>
                  <a:srgbClr val="979799"/>
                </a:solidFill>
                <a:latin typeface="Helvetica Neue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5D2A1A"/>
                </a:solidFill>
                <a:latin typeface="Helvetica Neue"/>
              </a:rPr>
              <a:t>—  </a:t>
            </a:r>
            <a:r>
              <a:rPr sz="1200" b="0" i="0" spc="120">
                <a:solidFill>
                  <a:srgbClr val="5D2A1A"/>
                </a:solidFill>
                <a:latin typeface="Helvetica Neue"/>
              </a:rPr>
              <a:t>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60120"/>
            <a:ext cx="6400800" cy="11887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0" i="0" spc="-90">
                <a:solidFill>
                  <a:srgbClr val="17191C"/>
                </a:solidFill>
                <a:latin typeface="Georgia"/>
              </a:rPr>
              <a:t>See it </a:t>
            </a:r>
            <a:r>
              <a:rPr sz="4000" b="0" i="1" spc="-90">
                <a:solidFill>
                  <a:srgbClr val="17191C"/>
                </a:solidFill>
                <a:latin typeface="Georgia"/>
              </a:rPr>
              <a:t>running.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74519"/>
            <a:ext cx="4572000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777B86"/>
                </a:solidFill>
                <a:latin typeface="Helvetica Neue"/>
              </a:rPr>
              <a:t>A desktop shell routes players through the five stages. Here is the live Integrity round — a 25-second shooting gallery built entirely from a spec.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97180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171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300" b="0">
                <a:solidFill>
                  <a:srgbClr val="FFFFFF"/>
                </a:solidFill>
                <a:latin typeface="Helvetica Neue"/>
              </a:rPr>
              <a:t>localhost:5174  →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0" y="868680"/>
            <a:ext cx="6309360" cy="5212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28016" dist="82296" dir="5400000" rotWithShape="0">
              <a:srgbClr val="000000">
                <a:alpha val="8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game-integrity-l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503045"/>
            <a:ext cx="6309360" cy="39433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 spc="100">
                <a:solidFill>
                  <a:srgbClr val="979799"/>
                </a:solidFill>
                <a:latin typeface="Helvetica Neue"/>
              </a:rPr>
              <a:t>BRILiaN WAY  /  Demo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1908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 spc="100">
                <a:solidFill>
                  <a:srgbClr val="979799"/>
                </a:solidFill>
                <a:latin typeface="Helvetica Neue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5D2A1A"/>
                </a:solidFill>
                <a:latin typeface="Helvetica Neue"/>
              </a:rPr>
              <a:t>—  </a:t>
            </a:r>
            <a:r>
              <a:rPr sz="1200" b="0" i="0" spc="120">
                <a:solidFill>
                  <a:srgbClr val="5D2A1A"/>
                </a:solidFill>
                <a:latin typeface="Helvetica Neue"/>
              </a:rPr>
              <a:t>DEMO  ·  THE FIVE GAMES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68680"/>
            <a:ext cx="10058400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0" i="0" spc="-70">
                <a:solidFill>
                  <a:srgbClr val="17191C"/>
                </a:solidFill>
                <a:latin typeface="Georgia"/>
              </a:rPr>
              <a:t>Five mechanics, </a:t>
            </a:r>
            <a:r>
              <a:rPr sz="3200" b="0" i="1" spc="-70">
                <a:solidFill>
                  <a:srgbClr val="17191C"/>
                </a:solidFill>
                <a:latin typeface="Georgia"/>
              </a:rPr>
              <a:t>one contract.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103120"/>
            <a:ext cx="2103120" cy="3566160"/>
          </a:xfrm>
          <a:prstGeom prst="roundRect">
            <a:avLst>
              <a:gd name="adj" fmla="val 10000"/>
            </a:avLst>
          </a:prstGeom>
          <a:solidFill>
            <a:srgbClr val="F2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4128" y="233172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 spc="80">
                <a:solidFill>
                  <a:srgbClr val="979799"/>
                </a:solidFill>
                <a:latin typeface="Helvetica Neue"/>
              </a:rPr>
              <a:t>INTEGRITY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2670048"/>
            <a:ext cx="173736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17191C"/>
                </a:solidFill>
                <a:latin typeface="Helvetica Neue"/>
              </a:rPr>
              <a:t>Shooting gallery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3429000"/>
            <a:ext cx="1737360" cy="2011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17191C"/>
                </a:solidFill>
                <a:latin typeface="Helvetica Neue"/>
              </a:rPr>
              <a:t>25s. Shoot integrity-aligned words (+5), avoid violations (−5). EDC-style launcher.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99815" y="2103120"/>
            <a:ext cx="2103120" cy="3566160"/>
          </a:xfrm>
          <a:prstGeom prst="roundRect">
            <a:avLst>
              <a:gd name="adj" fmla="val 10000"/>
            </a:avLst>
          </a:prstGeom>
          <a:solidFill>
            <a:srgbClr val="F2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00984" y="233172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 spc="80">
                <a:solidFill>
                  <a:srgbClr val="979799"/>
                </a:solidFill>
                <a:latin typeface="Helvetica Neue"/>
              </a:rPr>
              <a:t>COLLABORATIVE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00984" y="2670048"/>
            <a:ext cx="173736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17191C"/>
                </a:solidFill>
                <a:latin typeface="Helvetica Neue"/>
              </a:rPr>
              <a:t>Blind Builder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00984" y="3429000"/>
            <a:ext cx="1737360" cy="2011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17191C"/>
                </a:solidFill>
                <a:latin typeface="Helvetica Neue"/>
              </a:rPr>
              <a:t>180s. Guide a blind teammate across a 5×5 board with clear text instructions.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76671" y="2103120"/>
            <a:ext cx="2103120" cy="3566160"/>
          </a:xfrm>
          <a:prstGeom prst="roundRect">
            <a:avLst>
              <a:gd name="adj" fmla="val 10000"/>
            </a:avLst>
          </a:prstGeom>
          <a:solidFill>
            <a:srgbClr val="F2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77839" y="233172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 spc="80">
                <a:solidFill>
                  <a:srgbClr val="979799"/>
                </a:solidFill>
                <a:latin typeface="Helvetica Neue"/>
              </a:rPr>
              <a:t>ACCOUNTABILITY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77839" y="2670048"/>
            <a:ext cx="173736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17191C"/>
                </a:solidFill>
                <a:latin typeface="Helvetica Neue"/>
              </a:rPr>
              <a:t>Kasir Sat Set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77839" y="3429000"/>
            <a:ext cx="1737360" cy="2011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17191C"/>
                </a:solidFill>
                <a:latin typeface="Helvetica Neue"/>
              </a:rPr>
              <a:t>20s cashier. Three payment methods, a FIFO queue of buyers, fast correct service.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53527" y="2103120"/>
            <a:ext cx="2103120" cy="3566160"/>
          </a:xfrm>
          <a:prstGeom prst="roundRect">
            <a:avLst>
              <a:gd name="adj" fmla="val 10000"/>
            </a:avLst>
          </a:prstGeom>
          <a:solidFill>
            <a:srgbClr val="F2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54696" y="233172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 spc="80">
                <a:solidFill>
                  <a:srgbClr val="979799"/>
                </a:solidFill>
                <a:latin typeface="Helvetica Neue"/>
              </a:rPr>
              <a:t>GROWTH MINDSET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54696" y="2670048"/>
            <a:ext cx="173736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17191C"/>
                </a:solidFill>
                <a:latin typeface="Helvetica Neue"/>
              </a:rPr>
              <a:t>Pola Tumbuh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54696" y="3429000"/>
            <a:ext cx="1737360" cy="2011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17191C"/>
                </a:solidFill>
                <a:latin typeface="Helvetica Neue"/>
              </a:rPr>
              <a:t>20s arrow-memory, 5 levels. A mistake is a lesson — pattern replays. Pass mark 65.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930384" y="2103120"/>
            <a:ext cx="2103120" cy="3566160"/>
          </a:xfrm>
          <a:prstGeom prst="roundRect">
            <a:avLst>
              <a:gd name="adj" fmla="val 10000"/>
            </a:avLst>
          </a:prstGeom>
          <a:solidFill>
            <a:srgbClr val="F2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131552" y="233172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 spc="80">
                <a:solidFill>
                  <a:srgbClr val="979799"/>
                </a:solidFill>
                <a:latin typeface="Helvetica Neue"/>
              </a:rPr>
              <a:t>CUSTOMER FOCUS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31552" y="2670048"/>
            <a:ext cx="173736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17191C"/>
                </a:solidFill>
                <a:latin typeface="Helvetica Neue"/>
              </a:rPr>
              <a:t>Match the Solution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31552" y="3429000"/>
            <a:ext cx="1737360" cy="2011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17191C"/>
                </a:solidFill>
                <a:latin typeface="Helvetica Neue"/>
              </a:rPr>
              <a:t>45s arcade. Three situations, six cycling cards (3 right, 3 distractor) to catch.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 spc="100">
                <a:solidFill>
                  <a:srgbClr val="979799"/>
                </a:solidFill>
                <a:latin typeface="Helvetica Neue"/>
              </a:rPr>
              <a:t>BRILiaN WAY  /  Demo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7040" y="641908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 spc="100">
                <a:solidFill>
                  <a:srgbClr val="979799"/>
                </a:solidFill>
                <a:latin typeface="Helvetica Neue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5D2A1A"/>
                </a:solidFill>
                <a:latin typeface="Helvetica Neue"/>
              </a:rPr>
              <a:t>—  </a:t>
            </a:r>
            <a:r>
              <a:rPr sz="1200" b="0" i="0" spc="120">
                <a:solidFill>
                  <a:srgbClr val="5D2A1A"/>
                </a:solidFill>
                <a:latin typeface="Helvetica Neue"/>
              </a:rPr>
              <a:t>DEMO  ·  ORIGINAL ARCADE 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005840"/>
            <a:ext cx="4572000" cy="1920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0" i="0" spc="-60">
                <a:solidFill>
                  <a:srgbClr val="17191C"/>
                </a:solidFill>
                <a:latin typeface="Georgia"/>
              </a:rPr>
              <a:t>Specs covered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0" i="1" spc="-60">
                <a:solidFill>
                  <a:srgbClr val="17191C"/>
                </a:solidFill>
                <a:latin typeface="Georgia"/>
              </a:rPr>
              <a:t>art provenance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0" i="0" spc="-60">
                <a:solidFill>
                  <a:srgbClr val="17191C"/>
                </a:solidFill>
                <a:latin typeface="Georgia"/>
              </a:rPr>
              <a:t>too.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514600"/>
            <a:ext cx="4389120" cy="1645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777B86"/>
                </a:solidFill>
                <a:latin typeface="Helvetica Neue"/>
              </a:rPr>
              <a:t>Each game's spec required an asset manifest — source, license, attribution, usage. The Customer Focus round ships original branded-neutral 3D art: a bank lobby, a service counter, and reactive customer characters.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457200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 spc="80">
                <a:solidFill>
                  <a:srgbClr val="979799"/>
                </a:solidFill>
                <a:latin typeface="Helvetica Neue"/>
              </a:rPr>
              <a:t>SOURCE: ORIGINAL · DOCUMENTED IN README MANIFEST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0" y="914400"/>
            <a:ext cx="6309360" cy="3200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28016" dist="82296" dir="5400000" rotWithShape="0">
              <a:srgbClr val="000000">
                <a:alpha val="8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bb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0780" y="914400"/>
            <a:ext cx="4800600" cy="32004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486400" y="4251960"/>
            <a:ext cx="306324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28016" dist="82296" dir="5400000" rotWithShape="0">
              <a:srgbClr val="000000">
                <a:alpha val="8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coun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6420" y="4251960"/>
            <a:ext cx="2743200" cy="18288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732520" y="4251960"/>
            <a:ext cx="3063240" cy="1828800"/>
          </a:xfrm>
          <a:prstGeom prst="roundRect">
            <a:avLst>
              <a:gd name="adj" fmla="val 10000"/>
            </a:avLst>
          </a:prstGeom>
          <a:solidFill>
            <a:srgbClr val="FBE1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06840" y="4480560"/>
            <a:ext cx="2560320" cy="1463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5D2A1A"/>
                </a:solidFill>
                <a:latin typeface="Helvetica Neue"/>
              </a:rPr>
              <a:t>No BRI logos or wordmarks until brand approval is documented — the spec says so.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 spc="100">
                <a:solidFill>
                  <a:srgbClr val="979799"/>
                </a:solidFill>
                <a:latin typeface="Helvetica Neue"/>
              </a:rPr>
              <a:t>BRILiaN WAY  /  Demo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41908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 spc="100">
                <a:solidFill>
                  <a:srgbClr val="979799"/>
                </a:solidFill>
                <a:latin typeface="Helvetica Neue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5D2A1A"/>
                </a:solidFill>
                <a:latin typeface="Helvetica Neue"/>
              </a:rPr>
              <a:t>—  </a:t>
            </a:r>
            <a:r>
              <a:rPr sz="1200" b="0" i="0" spc="120">
                <a:solidFill>
                  <a:srgbClr val="5D2A1A"/>
                </a:solidFill>
                <a:latin typeface="Helvetica Neue"/>
              </a:rPr>
              <a:t>LESSONS LEARNED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60120"/>
            <a:ext cx="9144000" cy="11887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800" b="0" i="0" spc="-90">
                <a:solidFill>
                  <a:srgbClr val="17191C"/>
                </a:solidFill>
                <a:latin typeface="Georgia"/>
              </a:rPr>
              <a:t>What we'd </a:t>
            </a:r>
            <a:r>
              <a:rPr sz="3800" b="0" i="1" spc="-90">
                <a:solidFill>
                  <a:srgbClr val="17191C"/>
                </a:solidFill>
                <a:latin typeface="Georgia"/>
              </a:rPr>
              <a:t>keep and change.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240280"/>
            <a:ext cx="3456432" cy="1691640"/>
          </a:xfrm>
          <a:prstGeom prst="roundRect">
            <a:avLst>
              <a:gd name="adj" fmla="val 10000"/>
            </a:avLst>
          </a:prstGeom>
          <a:solidFill>
            <a:srgbClr val="F2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459736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1">
                <a:solidFill>
                  <a:srgbClr val="5D2A1A"/>
                </a:solidFill>
                <a:latin typeface="Georgia"/>
              </a:rPr>
              <a:t>01  </a:t>
            </a:r>
            <a:r>
              <a:rPr sz="1450" b="1" i="0">
                <a:solidFill>
                  <a:srgbClr val="17191C"/>
                </a:solidFill>
                <a:latin typeface="Helvetica Neue"/>
              </a:rPr>
              <a:t>Spec the seam, not the soul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008376"/>
            <a:ext cx="297180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17191C"/>
                </a:solidFill>
                <a:latin typeface="Helvetica Neue"/>
              </a:rPr>
              <a:t>Lock the contract and scoring early; leave room for feel to emerge through play.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98848" y="2240280"/>
            <a:ext cx="3456432" cy="1691640"/>
          </a:xfrm>
          <a:prstGeom prst="roundRect">
            <a:avLst>
              <a:gd name="adj" fmla="val 10000"/>
            </a:avLst>
          </a:prstGeom>
          <a:solidFill>
            <a:srgbClr val="F2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73168" y="2459736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1">
                <a:solidFill>
                  <a:srgbClr val="5D2A1A"/>
                </a:solidFill>
                <a:latin typeface="Georgia"/>
              </a:rPr>
              <a:t>02  </a:t>
            </a:r>
            <a:r>
              <a:rPr sz="1450" b="1" i="0">
                <a:solidFill>
                  <a:srgbClr val="17191C"/>
                </a:solidFill>
                <a:latin typeface="Helvetica Neue"/>
              </a:rPr>
              <a:t>Rubrics are the best prompts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73168" y="3008376"/>
            <a:ext cx="297180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17191C"/>
                </a:solidFill>
                <a:latin typeface="Helvetica Neue"/>
              </a:rPr>
              <a:t>A verifiable 0–100 rubric gave Copilot a target and gave reviewers a test.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74736" y="2240280"/>
            <a:ext cx="3456432" cy="1691640"/>
          </a:xfrm>
          <a:prstGeom prst="roundRect">
            <a:avLst>
              <a:gd name="adj" fmla="val 10000"/>
            </a:avLst>
          </a:prstGeom>
          <a:solidFill>
            <a:srgbClr val="F2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49056" y="2459736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1">
                <a:solidFill>
                  <a:srgbClr val="5D2A1A"/>
                </a:solidFill>
                <a:latin typeface="Georgia"/>
              </a:rPr>
              <a:t>03  </a:t>
            </a:r>
            <a:r>
              <a:rPr sz="1450" b="1" i="0">
                <a:solidFill>
                  <a:srgbClr val="17191C"/>
                </a:solidFill>
                <a:latin typeface="Helvetica Neue"/>
              </a:rPr>
              <a:t>Right-size the spec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49056" y="3008376"/>
            <a:ext cx="297180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17191C"/>
                </a:solidFill>
                <a:latin typeface="Helvetica Neue"/>
              </a:rPr>
              <a:t>Heavy OpenSpec changes fit real games; trivial ones can be lighter and faster.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4114800"/>
            <a:ext cx="3456432" cy="1691640"/>
          </a:xfrm>
          <a:prstGeom prst="roundRect">
            <a:avLst>
              <a:gd name="adj" fmla="val 10000"/>
            </a:avLst>
          </a:prstGeom>
          <a:solidFill>
            <a:srgbClr val="F2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4334256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1">
                <a:solidFill>
                  <a:srgbClr val="5D2A1A"/>
                </a:solidFill>
                <a:latin typeface="Georgia"/>
              </a:rPr>
              <a:t>04  </a:t>
            </a:r>
            <a:r>
              <a:rPr sz="1450" b="1" i="0">
                <a:solidFill>
                  <a:srgbClr val="17191C"/>
                </a:solidFill>
                <a:latin typeface="Helvetica Neue"/>
              </a:rPr>
              <a:t>Review specs, not diffs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882896"/>
            <a:ext cx="297180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17191C"/>
                </a:solidFill>
                <a:latin typeface="Helvetica Neue"/>
              </a:rPr>
              <a:t>Catching intent problems in proposal.md was far cheaper than in generated code.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98848" y="4114800"/>
            <a:ext cx="3456432" cy="1691640"/>
          </a:xfrm>
          <a:prstGeom prst="roundRect">
            <a:avLst>
              <a:gd name="adj" fmla="val 10000"/>
            </a:avLst>
          </a:prstGeom>
          <a:solidFill>
            <a:srgbClr val="F2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73168" y="4334256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1">
                <a:solidFill>
                  <a:srgbClr val="5D2A1A"/>
                </a:solidFill>
                <a:latin typeface="Georgia"/>
              </a:rPr>
              <a:t>05  </a:t>
            </a:r>
            <a:r>
              <a:rPr sz="1450" b="1" i="0">
                <a:solidFill>
                  <a:srgbClr val="17191C"/>
                </a:solidFill>
                <a:latin typeface="Helvetica Neue"/>
              </a:rPr>
              <a:t>Protect shared files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73168" y="4882896"/>
            <a:ext cx="297180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17191C"/>
                </a:solidFill>
                <a:latin typeface="Helvetica Neue"/>
              </a:rPr>
              <a:t>The registry and journey are seams — coordinate humans, don't just generate.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74736" y="4114800"/>
            <a:ext cx="3456432" cy="1691640"/>
          </a:xfrm>
          <a:prstGeom prst="roundRect">
            <a:avLst>
              <a:gd name="adj" fmla="val 10000"/>
            </a:avLst>
          </a:prstGeom>
          <a:solidFill>
            <a:srgbClr val="F2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49056" y="4334256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1">
                <a:solidFill>
                  <a:srgbClr val="5D2A1A"/>
                </a:solidFill>
                <a:latin typeface="Georgia"/>
              </a:rPr>
              <a:t>06  </a:t>
            </a:r>
            <a:r>
              <a:rPr sz="1450" b="1" i="0">
                <a:solidFill>
                  <a:srgbClr val="17191C"/>
                </a:solidFill>
                <a:latin typeface="Helvetica Neue"/>
              </a:rPr>
              <a:t>Keep the paper trail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49056" y="4882896"/>
            <a:ext cx="297180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17191C"/>
                </a:solidFill>
                <a:latin typeface="Helvetica Neue"/>
              </a:rPr>
              <a:t>Archived changes made every game auditable, from why to done.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 spc="100">
                <a:solidFill>
                  <a:srgbClr val="979799"/>
                </a:solidFill>
                <a:latin typeface="Helvetica Neue"/>
              </a:rPr>
              <a:t>BRILiaN WAY  /  Lessons learned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7040" y="641908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 spc="100">
                <a:solidFill>
                  <a:srgbClr val="979799"/>
                </a:solidFill>
                <a:latin typeface="Helvetica Neue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28016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5D2A1A"/>
                </a:solidFill>
                <a:latin typeface="Helvetica Neue"/>
              </a:rPr>
              <a:t>—  </a:t>
            </a:r>
            <a:r>
              <a:rPr sz="1200" b="0" i="0" spc="120">
                <a:solidFill>
                  <a:srgbClr val="5D2A1A"/>
                </a:solidFill>
                <a:latin typeface="Helvetica Neue"/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783080"/>
            <a:ext cx="10515600" cy="23774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5800" b="0" i="0" spc="-140">
                <a:solidFill>
                  <a:srgbClr val="17191C"/>
                </a:solidFill>
                <a:latin typeface="Georgia"/>
              </a:rPr>
              <a:t>Specify first.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5800" b="0" i="0" spc="-140">
                <a:solidFill>
                  <a:srgbClr val="17191C"/>
                </a:solidFill>
                <a:latin typeface="Georgia"/>
              </a:rPr>
              <a:t>Then let the team </a:t>
            </a:r>
            <a:r>
              <a:rPr sz="5800" b="0" i="1" spc="-140">
                <a:solidFill>
                  <a:srgbClr val="17191C"/>
                </a:solidFill>
                <a:latin typeface="Georgia"/>
              </a:rPr>
              <a:t>play.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297680"/>
            <a:ext cx="7315200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777B86"/>
                </a:solidFill>
                <a:latin typeface="Helvetica Neue"/>
              </a:rPr>
              <a:t>The BRILiaN Way arcade — five values, five games, one spec-driven workflow.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5212080"/>
            <a:ext cx="2011680" cy="475488"/>
          </a:xfrm>
          <a:prstGeom prst="roundRect">
            <a:avLst>
              <a:gd name="adj" fmla="val 50000"/>
            </a:avLst>
          </a:prstGeom>
          <a:solidFill>
            <a:srgbClr val="171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300" b="0">
                <a:solidFill>
                  <a:srgbClr val="FFFFFF"/>
                </a:solidFill>
                <a:latin typeface="Helvetica Neue"/>
              </a:rPr>
              <a:t>Questions  →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71800" y="5212080"/>
            <a:ext cx="2194560" cy="475488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171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300" b="0">
                <a:solidFill>
                  <a:srgbClr val="17191C"/>
                </a:solidFill>
                <a:latin typeface="Helvetica Neue"/>
              </a:rPr>
              <a:t>npm run dev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 spc="100">
                <a:solidFill>
                  <a:srgbClr val="979799"/>
                </a:solidFill>
                <a:latin typeface="Helvetica Neue"/>
              </a:rPr>
              <a:t>BRILiaN WAY  /  Closing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1908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 spc="100">
                <a:solidFill>
                  <a:srgbClr val="979799"/>
                </a:solidFill>
                <a:latin typeface="Helvetica Neue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